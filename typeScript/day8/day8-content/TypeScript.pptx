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60" r:id="rId6"/>
    <p:sldId id="263" r:id="rId7"/>
    <p:sldId id="286" r:id="rId8"/>
    <p:sldId id="289" r:id="rId9"/>
    <p:sldId id="293" r:id="rId10"/>
    <p:sldId id="292" r:id="rId11"/>
    <p:sldId id="284" r:id="rId12"/>
  </p:sldIdLst>
  <p:sldSz cx="9144000" cy="5143500" type="screen16x9"/>
  <p:notesSz cx="6858000" cy="9144000"/>
  <p:embeddedFontLst>
    <p:embeddedFont>
      <p:font typeface="Fira Sans Light" panose="020B0403050000020004" pitchFamily="34" charset="0"/>
      <p:regular r:id="rId14"/>
      <p:bold r:id="rId15"/>
      <p:italic r:id="rId16"/>
      <p:boldItalic r:id="rId17"/>
    </p:embeddedFont>
    <p:embeddedFont>
      <p:font typeface="Fira Sans SemiBold" panose="020B0603050000020004" pitchFamily="3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92AD2F-D528-4980-AD2E-F45AC1B25957}">
  <a:tblStyle styleId="{5692AD2F-D528-4980-AD2E-F45AC1B259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39712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000" y="0"/>
            <a:ext cx="9144000" cy="5143500"/>
          </a:xfrm>
          <a:prstGeom prst="rect">
            <a:avLst/>
          </a:prstGeom>
          <a:solidFill>
            <a:srgbClr val="02102E">
              <a:alpha val="5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860500" y="-25"/>
            <a:ext cx="2283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51500" y="751925"/>
            <a:ext cx="3426900" cy="363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392600" y="4392000"/>
            <a:ext cx="751500" cy="751500"/>
          </a:xfrm>
          <a:prstGeom prst="rect">
            <a:avLst/>
          </a:prstGeom>
          <a:solidFill>
            <a:srgbClr val="02102E">
              <a:alpha val="16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2000" y="0"/>
            <a:ext cx="9144000" cy="5143500"/>
          </a:xfrm>
          <a:prstGeom prst="rect">
            <a:avLst/>
          </a:prstGeom>
          <a:solidFill>
            <a:srgbClr val="02102E">
              <a:alpha val="5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283500" y="-25"/>
            <a:ext cx="6860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0"/>
            <a:ext cx="751500" cy="7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035000" y="751500"/>
            <a:ext cx="5357400" cy="363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600"/>
              </a:spcBef>
              <a:spcAft>
                <a:spcPts val="0"/>
              </a:spcAft>
              <a:buSzPts val="3600"/>
              <a:buChar char="▪"/>
              <a:defRPr sz="3600"/>
            </a:lvl1pPr>
            <a:lvl2pPr marL="914400" lvl="1" indent="-457200" rtl="0">
              <a:spcBef>
                <a:spcPts val="0"/>
              </a:spcBef>
              <a:spcAft>
                <a:spcPts val="0"/>
              </a:spcAft>
              <a:buSzPts val="3600"/>
              <a:buChar char="▫"/>
              <a:defRPr sz="3600"/>
            </a:lvl2pPr>
            <a:lvl3pPr marL="1371600" lvl="2" indent="-457200" rtl="0">
              <a:spcBef>
                <a:spcPts val="0"/>
              </a:spcBef>
              <a:spcAft>
                <a:spcPts val="0"/>
              </a:spcAft>
              <a:buSzPts val="3600"/>
              <a:buChar char="▫"/>
              <a:defRPr sz="3600"/>
            </a:lvl3pPr>
            <a:lvl4pPr marL="1828800" lvl="3" indent="-457200" rtl="0">
              <a:spcBef>
                <a:spcPts val="0"/>
              </a:spcBef>
              <a:spcAft>
                <a:spcPts val="0"/>
              </a:spcAft>
              <a:buSzPts val="3600"/>
              <a:buChar char="▫"/>
              <a:defRPr sz="3600"/>
            </a:lvl4pPr>
            <a:lvl5pPr marL="2286000" lvl="4" indent="-4572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marL="2743200" lvl="5" indent="-457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marL="3200400" lvl="6" indent="-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marL="3657600" lvl="7" indent="-4572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marL="4114800" lvl="8" indent="-457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-2000" y="76175"/>
            <a:ext cx="7515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“</a:t>
            </a:r>
            <a:endParaRPr sz="7200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  <a:solidFill>
            <a:srgbClr val="02102E">
              <a:alpha val="16200"/>
            </a:srgbClr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-2000" y="0"/>
            <a:ext cx="9144000" cy="5143500"/>
          </a:xfrm>
          <a:prstGeom prst="rect">
            <a:avLst/>
          </a:prstGeom>
          <a:solidFill>
            <a:srgbClr val="02102E">
              <a:alpha val="5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6860500" y="-25"/>
            <a:ext cx="2283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0" y="0"/>
            <a:ext cx="751500" cy="7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51500" y="1217000"/>
            <a:ext cx="44916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51500" y="1664175"/>
            <a:ext cx="4491600" cy="27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▪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-2000" y="0"/>
            <a:ext cx="9144000" cy="5143500"/>
          </a:xfrm>
          <a:prstGeom prst="rect">
            <a:avLst/>
          </a:prstGeom>
          <a:solidFill>
            <a:srgbClr val="02102E">
              <a:alpha val="5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6860500" y="-25"/>
            <a:ext cx="2283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0" y="0"/>
            <a:ext cx="751500" cy="7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51500" y="1217000"/>
            <a:ext cx="44916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51500" y="1664175"/>
            <a:ext cx="2098500" cy="27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3144470" y="1664175"/>
            <a:ext cx="2098500" cy="27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32"/>
            </a:avLst>
          </a:prstGeom>
          <a:solidFill>
            <a:srgbClr val="02102E">
              <a:alpha val="16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0" y="0"/>
            <a:ext cx="751500" cy="7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2"/>
          <p:cNvSpPr/>
          <p:nvPr/>
        </p:nvSpPr>
        <p:spPr>
          <a:xfrm>
            <a:off x="8392600" y="0"/>
            <a:ext cx="751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" name="Google Shape;81;p12"/>
          <p:cNvGrpSpPr/>
          <p:nvPr/>
        </p:nvGrpSpPr>
        <p:grpSpPr>
          <a:xfrm>
            <a:off x="759900" y="750444"/>
            <a:ext cx="7957877" cy="3965562"/>
            <a:chOff x="342730" y="751500"/>
            <a:chExt cx="7957877" cy="3965562"/>
          </a:xfrm>
        </p:grpSpPr>
        <p:pic>
          <p:nvPicPr>
            <p:cNvPr id="82" name="Google Shape;82;p12"/>
            <p:cNvPicPr preferRelativeResize="0"/>
            <p:nvPr/>
          </p:nvPicPr>
          <p:blipFill>
            <a:blip r:embed="rId2">
              <a:alphaModFix amt="35000"/>
            </a:blip>
            <a:stretch>
              <a:fillRect/>
            </a:stretch>
          </p:blipFill>
          <p:spPr>
            <a:xfrm>
              <a:off x="7975557" y="4392012"/>
              <a:ext cx="325050" cy="325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2"/>
            <p:cNvPicPr preferRelativeResize="0"/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7975558" y="751500"/>
              <a:ext cx="325039" cy="364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2"/>
            <p:cNvPicPr preferRelativeResize="0"/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 rot="-5400000" flipH="1">
              <a:off x="3996617" y="738119"/>
              <a:ext cx="325050" cy="76328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1500" y="1217000"/>
            <a:ext cx="4491600" cy="3963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Fira Sans SemiBold"/>
              <a:buNone/>
              <a:defRPr sz="28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1500" y="1664175"/>
            <a:ext cx="4491600" cy="2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Fira Sans Light"/>
              <a:buChar char="▪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Fira Sans Light"/>
              <a:buChar char="▫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Fira Sans Light"/>
              <a:buChar char="▫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 Light"/>
              <a:buChar char="▫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Fira Sans Light"/>
              <a:buChar char="○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Fira Sans Light"/>
              <a:buChar char="■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Fira Sans Light"/>
              <a:buChar char="●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Fira Sans Light"/>
              <a:buChar char="○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Fira Sans Light"/>
              <a:buChar char="■"/>
              <a:defRPr sz="2200">
                <a:solidFill>
                  <a:schemeClr val="lt1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  <a:solidFill>
            <a:srgbClr val="02102E">
              <a:alpha val="162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1pPr>
            <a:lvl2pPr lvl="1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2pPr>
            <a:lvl3pPr lvl="2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3pPr>
            <a:lvl4pPr lvl="3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4pPr>
            <a:lvl5pPr lvl="4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5pPr>
            <a:lvl6pPr lvl="5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6pPr>
            <a:lvl7pPr lvl="6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7pPr>
            <a:lvl8pPr lvl="7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8pPr>
            <a:lvl9pPr lvl="8" algn="ctr" rtl="0">
              <a:buNone/>
              <a:defRPr sz="1500">
                <a:solidFill>
                  <a:schemeClr val="accent6"/>
                </a:solidFill>
                <a:latin typeface="Fira Sans SemiBold"/>
                <a:ea typeface="Fira Sans SemiBold"/>
                <a:cs typeface="Fira Sans SemiBold"/>
                <a:sym typeface="Fira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8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tutorialsteacher.com/nodejs/setup-nodejs-development-environmen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751500" y="751925"/>
            <a:ext cx="3972900" cy="363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/>
              <a:t>TypeScript</a:t>
            </a:r>
            <a:br>
              <a:rPr lang="en-US" dirty="0"/>
            </a:b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D6833-95A0-5C75-8BA4-58ED8EDB1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C621C8-37ED-148F-3092-6B2EF1B06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3F2D7A-A940-61C0-0644-1B8BD3A95DC2}"/>
              </a:ext>
            </a:extLst>
          </p:cNvPr>
          <p:cNvSpPr txBox="1"/>
          <p:nvPr/>
        </p:nvSpPr>
        <p:spPr>
          <a:xfrm>
            <a:off x="1371600" y="4363097"/>
            <a:ext cx="4572000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60000"/>
              </a:lnSpc>
              <a:buNone/>
            </a:pPr>
            <a:r>
              <a:rPr lang="en-US" sz="1200" b="0" i="0" dirty="0">
                <a:solidFill>
                  <a:schemeClr val="accent6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Ministry of Communications and Information Technology</a:t>
            </a:r>
            <a:endParaRPr lang="en-US" sz="1200" dirty="0">
              <a:solidFill>
                <a:schemeClr val="accent6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A2430-7DFB-277D-0390-F3FDF0B80C0A}"/>
              </a:ext>
            </a:extLst>
          </p:cNvPr>
          <p:cNvSpPr txBox="1"/>
          <p:nvPr/>
        </p:nvSpPr>
        <p:spPr>
          <a:xfrm>
            <a:off x="1828800" y="3868689"/>
            <a:ext cx="4572000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latinLnBrk="0" hangingPunct="1">
              <a:lnSpc>
                <a:spcPct val="160000"/>
              </a:lnSpc>
              <a:buNone/>
            </a:pPr>
            <a:r>
              <a:rPr lang="en-US" sz="1200" b="1" i="0" kern="1200" dirty="0">
                <a:solidFill>
                  <a:schemeClr val="accent6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dirty="0">
              <a:solidFill>
                <a:schemeClr val="accent6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3035000" y="751500"/>
            <a:ext cx="5357400" cy="363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Content:</a:t>
            </a:r>
            <a:r>
              <a:rPr lang="en" sz="2000" dirty="0"/>
              <a:t> </a:t>
            </a:r>
          </a:p>
          <a:p>
            <a:pPr marL="0" lvl="0" indent="0">
              <a:buClr>
                <a:schemeClr val="bg1"/>
              </a:buClr>
              <a:buSzPct val="70000"/>
              <a:buNone/>
            </a:pPr>
            <a:r>
              <a:rPr lang="en" sz="2000" dirty="0"/>
              <a:t> </a:t>
            </a:r>
            <a:r>
              <a:rPr lang="en" sz="2400" dirty="0"/>
              <a:t>1) What</a:t>
            </a:r>
            <a:r>
              <a:rPr lang="en-US" sz="2400" dirty="0"/>
              <a:t>'s</a:t>
            </a:r>
            <a:r>
              <a:rPr lang="en" sz="2400" dirty="0"/>
              <a:t> </a:t>
            </a:r>
            <a:r>
              <a:rPr lang="en-US" sz="2400" dirty="0"/>
              <a:t>Typescript ?</a:t>
            </a:r>
          </a:p>
          <a:p>
            <a:pPr marL="0" indent="0">
              <a:buClr>
                <a:schemeClr val="bg1"/>
              </a:buClr>
              <a:buSzPct val="70000"/>
              <a:buNone/>
            </a:pPr>
            <a:r>
              <a:rPr lang="en-US" sz="2400" dirty="0"/>
              <a:t> 2) Get Started</a:t>
            </a:r>
          </a:p>
          <a:p>
            <a:pPr marL="0" indent="0">
              <a:buClr>
                <a:schemeClr val="bg1"/>
              </a:buClr>
              <a:buSzPct val="70000"/>
              <a:buNone/>
            </a:pPr>
            <a:r>
              <a:rPr lang="en-US" sz="2400" dirty="0"/>
              <a:t> 3</a:t>
            </a:r>
            <a:r>
              <a:rPr lang="en-US" sz="2400"/>
              <a:t>) Typescript</a:t>
            </a:r>
            <a:endParaRPr lang="en-US" sz="2400" dirty="0"/>
          </a:p>
          <a:p>
            <a:pPr marL="0" indent="0">
              <a:buClr>
                <a:schemeClr val="bg1"/>
              </a:buClr>
              <a:buSzPct val="70000"/>
              <a:buNone/>
            </a:pPr>
            <a:r>
              <a:rPr lang="en-US" sz="2400" dirty="0"/>
              <a:t>  </a:t>
            </a:r>
          </a:p>
          <a:p>
            <a:pPr marL="0" indent="0">
              <a:buClr>
                <a:schemeClr val="bg1"/>
              </a:buClr>
              <a:buSzPct val="70000"/>
              <a:buNone/>
            </a:pPr>
            <a:endParaRPr lang="en-US" sz="2000" dirty="0"/>
          </a:p>
          <a:p>
            <a:pPr marL="0" lvl="0" indent="0">
              <a:buClr>
                <a:schemeClr val="bg1"/>
              </a:buClr>
              <a:buSzPct val="70000"/>
              <a:buNone/>
            </a:pPr>
            <a:endParaRPr lang="en" sz="2000" dirty="0"/>
          </a:p>
          <a:p>
            <a:pPr lvl="0" algn="l" rtl="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400" dirty="0"/>
              <a:t> </a:t>
            </a:r>
            <a:endParaRPr sz="2400" dirty="0"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47D75-39AA-2542-406D-9037DA4EE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065FA-1DA2-9507-331B-0004A2D44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685800" y="1504950"/>
            <a:ext cx="20985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TypeScript is an open-source object-oriented language developed and maintained by Microsoft, licensed under Apache 2 license. It is a typed superset of Javascript that compiles to plain JavaScript</a:t>
            </a:r>
            <a:endParaRPr dirty="0"/>
          </a:p>
        </p:txBody>
      </p:sp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762000" y="895350"/>
            <a:ext cx="4491600" cy="6417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dirty="0"/>
              <a:t>What</a:t>
            </a:r>
            <a:r>
              <a:rPr lang="en-US" dirty="0"/>
              <a:t>'s</a:t>
            </a:r>
            <a:r>
              <a:rPr lang="en" dirty="0"/>
              <a:t> </a:t>
            </a:r>
            <a:r>
              <a:rPr lang="en-US" dirty="0"/>
              <a:t>TypeScript</a:t>
            </a:r>
            <a:br>
              <a:rPr lang="en-US" dirty="0"/>
            </a:br>
            <a:endParaRPr lang="en-US" dirty="0"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2"/>
          </p:nvPr>
        </p:nvSpPr>
        <p:spPr>
          <a:xfrm>
            <a:off x="3144470" y="1664175"/>
            <a:ext cx="2098500" cy="27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TypeScript was developed under Anders Hejlsberg, who also led the creation of the C# language. TypeScript was first released in October 2012.</a:t>
            </a:r>
            <a:endParaRPr dirty="0"/>
          </a:p>
        </p:txBody>
      </p:sp>
      <p:sp>
        <p:nvSpPr>
          <p:cNvPr id="174" name="Google Shape;174;p20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grpSp>
        <p:nvGrpSpPr>
          <p:cNvPr id="175" name="Google Shape;175;p20"/>
          <p:cNvGrpSpPr/>
          <p:nvPr/>
        </p:nvGrpSpPr>
        <p:grpSpPr>
          <a:xfrm>
            <a:off x="268031" y="200148"/>
            <a:ext cx="215437" cy="351204"/>
            <a:chOff x="6730350" y="2315900"/>
            <a:chExt cx="257700" cy="420100"/>
          </a:xfrm>
        </p:grpSpPr>
        <p:sp>
          <p:nvSpPr>
            <p:cNvPr id="176" name="Google Shape;176;p20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81" name="Google Shape;181;p20"/>
          <p:cNvPicPr preferRelativeResize="0"/>
          <p:nvPr/>
        </p:nvPicPr>
        <p:blipFill rotWithShape="1">
          <a:blip r:embed="rId3">
            <a:alphaModFix/>
          </a:blip>
          <a:srcRect l="37863" t="11229" r="18226"/>
          <a:stretch/>
        </p:blipFill>
        <p:spPr>
          <a:xfrm>
            <a:off x="5690400" y="751500"/>
            <a:ext cx="2702100" cy="3639601"/>
          </a:xfrm>
          <a:prstGeom prst="rect">
            <a:avLst/>
          </a:prstGeom>
          <a:noFill/>
          <a:ln>
            <a:noFill/>
          </a:ln>
          <a:effectLst>
            <a:outerShdw blurRad="285750" dist="190500" dir="2760000" algn="bl" rotWithShape="0">
              <a:schemeClr val="dk1">
                <a:alpha val="35000"/>
              </a:scheme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2097FC-D631-CEF6-1A79-F139595C7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70C20-93C1-1EAC-FE02-05D554FBD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19150"/>
            <a:ext cx="5725500" cy="548700"/>
          </a:xfrm>
        </p:spPr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57350"/>
            <a:ext cx="5725500" cy="25146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dirty="0"/>
              <a:t>Basic knowledge of JavaScript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pSp>
        <p:nvGrpSpPr>
          <p:cNvPr id="9" name="Google Shape;414;p37"/>
          <p:cNvGrpSpPr/>
          <p:nvPr/>
        </p:nvGrpSpPr>
        <p:grpSpPr>
          <a:xfrm>
            <a:off x="193001" y="193009"/>
            <a:ext cx="365499" cy="365499"/>
            <a:chOff x="1922075" y="1629000"/>
            <a:chExt cx="437200" cy="437200"/>
          </a:xfrm>
        </p:grpSpPr>
        <p:sp>
          <p:nvSpPr>
            <p:cNvPr id="10" name="Google Shape;415;p37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416;p37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3B5B27F-06AB-ABD7-9CCF-104C3F50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C67D72-2123-9002-939D-2F0730561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26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2454"/>
            <a:ext cx="4491600" cy="762000"/>
          </a:xfrm>
        </p:spPr>
        <p:txBody>
          <a:bodyPr/>
          <a:lstStyle/>
          <a:p>
            <a:r>
              <a:rPr lang="en-US" dirty="0"/>
              <a:t>Install TypeScript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047750"/>
            <a:ext cx="4491600" cy="3962400"/>
          </a:xfrm>
        </p:spPr>
        <p:txBody>
          <a:bodyPr/>
          <a:lstStyle/>
          <a:p>
            <a:r>
              <a:rPr lang="en-US" sz="2000" dirty="0"/>
              <a:t> </a:t>
            </a:r>
            <a:r>
              <a:rPr lang="en-US" sz="2000" dirty="0">
                <a:hlinkClick r:id="rId2"/>
              </a:rPr>
              <a:t>install Node.js</a:t>
            </a:r>
            <a:r>
              <a:rPr lang="en-US" sz="2000" dirty="0"/>
              <a:t>: https://nodejs.org/en/download/</a:t>
            </a:r>
          </a:p>
          <a:p>
            <a:r>
              <a:rPr lang="en-US" sz="2000" dirty="0"/>
              <a:t>In cmd : npm install -g typescript</a:t>
            </a:r>
          </a:p>
          <a:p>
            <a:r>
              <a:rPr lang="en-US" sz="2000" dirty="0" err="1"/>
              <a:t>tsc</a:t>
            </a:r>
            <a:r>
              <a:rPr lang="en-US" sz="2000" dirty="0"/>
              <a:t> -v =&gt; Version 5.1.6</a:t>
            </a:r>
          </a:p>
          <a:p>
            <a:r>
              <a:rPr lang="en-US" sz="2000" dirty="0"/>
              <a:t>To run file terminal : tsc AppName.ts</a:t>
            </a:r>
          </a:p>
          <a:p>
            <a:r>
              <a:rPr lang="en-US" sz="2000" dirty="0"/>
              <a:t>To make file watch : tsc AppName.ts --watch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pSp>
        <p:nvGrpSpPr>
          <p:cNvPr id="10" name="Google Shape;414;p37"/>
          <p:cNvGrpSpPr/>
          <p:nvPr/>
        </p:nvGrpSpPr>
        <p:grpSpPr>
          <a:xfrm>
            <a:off x="193001" y="193009"/>
            <a:ext cx="365499" cy="365499"/>
            <a:chOff x="1922075" y="1629000"/>
            <a:chExt cx="437200" cy="437200"/>
          </a:xfrm>
        </p:grpSpPr>
        <p:sp>
          <p:nvSpPr>
            <p:cNvPr id="11" name="Google Shape;415;p37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416;p37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2188668-5130-B160-75CC-0C8362178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38896-54F9-A7D7-11DE-9FC75B3B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2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ITI Courses\TypeScript\1_UIioHehyD5o_6ydf3w2fu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6263"/>
            <a:ext cx="547687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34C6B6-5B69-732E-C58A-D93697AA8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38D3A5-55AA-5FFC-99BF-8039C298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0"/>
            <a:ext cx="4491600" cy="396300"/>
          </a:xfrm>
        </p:spPr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1500" y="742950"/>
            <a:ext cx="4491600" cy="3648225"/>
          </a:xfrm>
        </p:spPr>
        <p:txBody>
          <a:bodyPr/>
          <a:lstStyle/>
          <a:p>
            <a:r>
              <a:rPr lang="en-US" dirty="0"/>
              <a:t>Types</a:t>
            </a:r>
          </a:p>
          <a:p>
            <a:r>
              <a:rPr lang="en-US" dirty="0"/>
              <a:t>Enum</a:t>
            </a:r>
          </a:p>
          <a:p>
            <a:r>
              <a:rPr lang="en-US" dirty="0"/>
              <a:t>Interfaces</a:t>
            </a:r>
          </a:p>
          <a:p>
            <a:r>
              <a:rPr lang="en-US" dirty="0"/>
              <a:t>Generic</a:t>
            </a:r>
          </a:p>
          <a:p>
            <a:r>
              <a:rPr lang="en-US" dirty="0"/>
              <a:t>Union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Decorator</a:t>
            </a:r>
          </a:p>
          <a:p>
            <a:r>
              <a:rPr lang="en-US" dirty="0"/>
              <a:t>Modules and namespaces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26846-818D-5B93-C6CA-C269828E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FD0C34-9F63-9168-429F-2F1859B20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9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1"/>
          <p:cNvSpPr txBox="1"/>
          <p:nvPr/>
        </p:nvSpPr>
        <p:spPr>
          <a:xfrm>
            <a:off x="1106100" y="2209500"/>
            <a:ext cx="6931800" cy="9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Thanks</a:t>
            </a:r>
            <a:endParaRPr sz="40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41"/>
          <p:cNvSpPr txBox="1">
            <a:spLocks noGrp="1"/>
          </p:cNvSpPr>
          <p:nvPr>
            <p:ph type="sldNum" idx="12"/>
          </p:nvPr>
        </p:nvSpPr>
        <p:spPr>
          <a:xfrm>
            <a:off x="8392497" y="4391174"/>
            <a:ext cx="751500" cy="7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9CB2A-6EC7-04FE-613A-EE314CB1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0"/>
            <a:ext cx="790575" cy="3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C88217-D977-9F35-EED5-221932198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" cy="342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8AEC04-F118-89D6-A2B1-DA3F6AF85F31}"/>
              </a:ext>
            </a:extLst>
          </p:cNvPr>
          <p:cNvSpPr txBox="1"/>
          <p:nvPr/>
        </p:nvSpPr>
        <p:spPr>
          <a:xfrm>
            <a:off x="3352800" y="3562350"/>
            <a:ext cx="4572000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latinLnBrk="0" hangingPunct="1">
              <a:lnSpc>
                <a:spcPct val="160000"/>
              </a:lnSpc>
              <a:buNone/>
            </a:pPr>
            <a:r>
              <a:rPr lang="en-US" sz="1200" b="1" i="0" kern="120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ontes template">
  <a:themeElements>
    <a:clrScheme name="Custom 347">
      <a:dk1>
        <a:srgbClr val="03153B"/>
      </a:dk1>
      <a:lt1>
        <a:srgbClr val="FFFFFF"/>
      </a:lt1>
      <a:dk2>
        <a:srgbClr val="DFE2E9"/>
      </a:dk2>
      <a:lt2>
        <a:srgbClr val="6C7588"/>
      </a:lt2>
      <a:accent1>
        <a:srgbClr val="F36232"/>
      </a:accent1>
      <a:accent2>
        <a:srgbClr val="32A707"/>
      </a:accent2>
      <a:accent3>
        <a:srgbClr val="AFE435"/>
      </a:accent3>
      <a:accent4>
        <a:srgbClr val="9287E6"/>
      </a:accent4>
      <a:accent5>
        <a:srgbClr val="B5BDFD"/>
      </a:accent5>
      <a:accent6>
        <a:srgbClr val="FF703B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846A4520E7A47AA2DA4786148611F" ma:contentTypeVersion="12" ma:contentTypeDescription="Create a new document." ma:contentTypeScope="" ma:versionID="e8ef63e639c77595db7c1010c48afcdb">
  <xsd:schema xmlns:xsd="http://www.w3.org/2001/XMLSchema" xmlns:xs="http://www.w3.org/2001/XMLSchema" xmlns:p="http://schemas.microsoft.com/office/2006/metadata/properties" xmlns:ns2="97be5517-c571-4c78-9c92-450474ca01ae" xmlns:ns3="53f9fcf5-1486-426e-b8d3-ce7def6356f0" targetNamespace="http://schemas.microsoft.com/office/2006/metadata/properties" ma:root="true" ma:fieldsID="6c5e7780c669952f92bf626696d59190" ns2:_="" ns3:_="">
    <xsd:import namespace="97be5517-c571-4c78-9c92-450474ca01ae"/>
    <xsd:import namespace="53f9fcf5-1486-426e-b8d3-ce7def6356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be5517-c571-4c78-9c92-450474ca01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9fcf5-1486-426e-b8d3-ce7def6356f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00d9643-6bf8-4329-bc52-948e36d37f37}" ma:internalName="TaxCatchAll" ma:showField="CatchAllData" ma:web="53f9fcf5-1486-426e-b8d3-ce7def6356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be5517-c571-4c78-9c92-450474ca01ae">
      <Terms xmlns="http://schemas.microsoft.com/office/infopath/2007/PartnerControls"/>
    </lcf76f155ced4ddcb4097134ff3c332f>
    <TaxCatchAll xmlns="53f9fcf5-1486-426e-b8d3-ce7def6356f0" xsi:nil="true"/>
  </documentManagement>
</p:properties>
</file>

<file path=customXml/itemProps1.xml><?xml version="1.0" encoding="utf-8"?>
<ds:datastoreItem xmlns:ds="http://schemas.openxmlformats.org/officeDocument/2006/customXml" ds:itemID="{ECDAA0DB-C0F0-4FC3-88CD-C62FF4EE37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FE09C2-79CD-461F-8E4C-049E4BA6A2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be5517-c571-4c78-9c92-450474ca01ae"/>
    <ds:schemaRef ds:uri="53f9fcf5-1486-426e-b8d3-ce7def6356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8B3B44-2CFF-4F38-81F2-B510825308E6}">
  <ds:schemaRefs>
    <ds:schemaRef ds:uri="http://schemas.microsoft.com/office/2006/metadata/properties"/>
    <ds:schemaRef ds:uri="http://schemas.microsoft.com/office/infopath/2007/PartnerControls"/>
    <ds:schemaRef ds:uri="97be5517-c571-4c78-9c92-450474ca01ae"/>
    <ds:schemaRef ds:uri="53f9fcf5-1486-426e-b8d3-ce7def6356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172</Words>
  <Application>Microsoft Office PowerPoint</Application>
  <PresentationFormat>On-screen Show (16:9)</PresentationFormat>
  <Paragraphs>40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Lato</vt:lpstr>
      <vt:lpstr>Wingdings</vt:lpstr>
      <vt:lpstr>Fira Sans Light</vt:lpstr>
      <vt:lpstr>Montserrat</vt:lpstr>
      <vt:lpstr>Fira Sans SemiBold</vt:lpstr>
      <vt:lpstr>Arial</vt:lpstr>
      <vt:lpstr>Leontes template</vt:lpstr>
      <vt:lpstr>TypeScript </vt:lpstr>
      <vt:lpstr>PowerPoint Presentation</vt:lpstr>
      <vt:lpstr>What's TypeScript </vt:lpstr>
      <vt:lpstr>Prerequisites</vt:lpstr>
      <vt:lpstr>Install TypeScript</vt:lpstr>
      <vt:lpstr>PowerPoint Presentation</vt:lpstr>
      <vt:lpstr>Typescript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Data Structure</dc:title>
  <cp:lastModifiedBy>Ahmad Mohamd Foaad</cp:lastModifiedBy>
  <cp:revision>161</cp:revision>
  <dcterms:modified xsi:type="dcterms:W3CDTF">2026-07-10T11:29:44Z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0x010100962846A4520E7A47AA2DA4786148611F</vt:lpwstr>
  </property>
</Properties>
</file>