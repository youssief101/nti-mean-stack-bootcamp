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9144000" cy="51435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72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3999" y="1714498"/>
                </a:moveTo>
                <a:lnTo>
                  <a:pt x="0" y="1714498"/>
                </a:lnTo>
                <a:lnTo>
                  <a:pt x="0" y="0"/>
                </a:lnTo>
                <a:lnTo>
                  <a:pt x="9143999" y="0"/>
                </a:lnTo>
                <a:lnTo>
                  <a:pt x="9143999" y="1714498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91716" y="464810"/>
            <a:ext cx="2560566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3999" y="1714498"/>
                </a:moveTo>
                <a:lnTo>
                  <a:pt x="0" y="1714498"/>
                </a:lnTo>
                <a:lnTo>
                  <a:pt x="0" y="0"/>
                </a:lnTo>
                <a:lnTo>
                  <a:pt x="9143999" y="0"/>
                </a:lnTo>
                <a:lnTo>
                  <a:pt x="9143999" y="1714498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765" y="1074410"/>
            <a:ext cx="2980469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4" y="1192033"/>
            <a:ext cx="8374550" cy="1170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5800" y="464810"/>
            <a:ext cx="7238999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7645">
              <a:lnSpc>
                <a:spcPct val="100000"/>
              </a:lnSpc>
              <a:spcBef>
                <a:spcPts val="100"/>
              </a:spcBef>
            </a:pPr>
            <a:r>
              <a:rPr sz="8000" b="1" spc="300" dirty="0">
                <a:solidFill>
                  <a:srgbClr val="212121"/>
                </a:solidFill>
                <a:latin typeface="Trebuchet MS"/>
                <a:cs typeface="Trebuchet MS"/>
              </a:rPr>
              <a:t>N</a:t>
            </a:r>
            <a:r>
              <a:rPr sz="8000" b="1" cap="small" spc="300" dirty="0">
                <a:solidFill>
                  <a:srgbClr val="212121"/>
                </a:solidFill>
                <a:latin typeface="Trebuchet MS"/>
                <a:cs typeface="Trebuchet MS"/>
              </a:rPr>
              <a:t>o</a:t>
            </a:r>
            <a:r>
              <a:rPr sz="8000" b="1" spc="300" dirty="0">
                <a:solidFill>
                  <a:srgbClr val="212121"/>
                </a:solidFill>
                <a:latin typeface="Trebuchet MS"/>
                <a:cs typeface="Trebuchet MS"/>
              </a:rPr>
              <a:t>de js Lec</a:t>
            </a:r>
            <a:r>
              <a:rPr sz="8000" b="1" cap="small" spc="300" dirty="0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sz="8000" b="1" spc="300" dirty="0">
                <a:solidFill>
                  <a:srgbClr val="212121"/>
                </a:solidFill>
                <a:latin typeface="Trebuchet MS"/>
                <a:cs typeface="Trebuchet MS"/>
              </a:rPr>
              <a:t>uRe 4</a:t>
            </a:r>
            <a:endParaRPr sz="8000" spc="300" dirty="0"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C9B17-9D0B-8853-B4A3-D0DD828EB58D}"/>
              </a:ext>
            </a:extLst>
          </p:cNvPr>
          <p:cNvSpPr txBox="1"/>
          <p:nvPr/>
        </p:nvSpPr>
        <p:spPr>
          <a:xfrm>
            <a:off x="2514600" y="4248150"/>
            <a:ext cx="4572000" cy="35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60000"/>
              </a:lnSpc>
              <a:buNone/>
            </a:pPr>
            <a:r>
              <a:rPr lang="en-US" sz="1200" b="1" i="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Ministry of Communications and Information Technology</a:t>
            </a:r>
            <a:endParaRPr lang="en-US" sz="1200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59C86-2DCB-66D1-E403-F8EA1EA206C4}"/>
              </a:ext>
            </a:extLst>
          </p:cNvPr>
          <p:cNvSpPr txBox="1"/>
          <p:nvPr/>
        </p:nvSpPr>
        <p:spPr>
          <a:xfrm>
            <a:off x="3048000" y="3895233"/>
            <a:ext cx="4572000" cy="35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60000"/>
              </a:lnSpc>
              <a:buNone/>
            </a:pPr>
            <a:r>
              <a:rPr lang="en-US" sz="1200" b="1" i="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National Telecommunication Institute</a:t>
            </a:r>
            <a:endParaRPr lang="en-US" sz="12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5C39DD-A6FE-B261-6A60-028F54672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863E7F-8DE7-457F-EC23-F1F875C71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453" y="1389255"/>
            <a:ext cx="4119879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6830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80365" algn="l"/>
                <a:tab pos="381000" algn="l"/>
              </a:tabLst>
            </a:pPr>
            <a:r>
              <a:rPr sz="1500" spc="-5" dirty="0">
                <a:latin typeface="Courier New"/>
                <a:cs typeface="Courier New"/>
              </a:rPr>
              <a:t>Mongoose</a:t>
            </a:r>
            <a:endParaRPr sz="1500">
              <a:latin typeface="Courier New"/>
              <a:cs typeface="Courier New"/>
            </a:endParaRPr>
          </a:p>
          <a:p>
            <a:pPr marL="106045">
              <a:lnSpc>
                <a:spcPct val="100000"/>
              </a:lnSpc>
              <a:spcBef>
                <a:spcPts val="1075"/>
              </a:spcBef>
            </a:pPr>
            <a:r>
              <a:rPr sz="1500" spc="-5" dirty="0">
                <a:latin typeface="Courier New"/>
                <a:cs typeface="Courier New"/>
              </a:rPr>
              <a:t>-Middlewares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(ex:</a:t>
            </a:r>
            <a:r>
              <a:rPr sz="1500" spc="1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saving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passwords)</a:t>
            </a:r>
            <a:endParaRPr sz="1500">
              <a:latin typeface="Courier New"/>
              <a:cs typeface="Courier New"/>
            </a:endParaRPr>
          </a:p>
          <a:p>
            <a:pPr marL="380365" indent="-368300">
              <a:lnSpc>
                <a:spcPct val="100000"/>
              </a:lnSpc>
              <a:spcBef>
                <a:spcPts val="915"/>
              </a:spcBef>
              <a:buFont typeface="Microsoft Sans Serif"/>
              <a:buChar char="●"/>
              <a:tabLst>
                <a:tab pos="380365" algn="l"/>
                <a:tab pos="381000" algn="l"/>
              </a:tabLst>
            </a:pPr>
            <a:r>
              <a:rPr sz="1500" spc="-5" dirty="0">
                <a:latin typeface="Courier New"/>
                <a:cs typeface="Courier New"/>
              </a:rPr>
              <a:t>Hashing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VS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Encryption</a:t>
            </a:r>
            <a:endParaRPr sz="1500">
              <a:latin typeface="Courier New"/>
              <a:cs typeface="Courier New"/>
            </a:endParaRPr>
          </a:p>
          <a:p>
            <a:pPr marL="380365" indent="-36830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80365" algn="l"/>
                <a:tab pos="381000" algn="l"/>
              </a:tabLst>
            </a:pPr>
            <a:r>
              <a:rPr sz="1500" spc="-5" dirty="0">
                <a:latin typeface="Courier New"/>
                <a:cs typeface="Courier New"/>
              </a:rPr>
              <a:t>bcryptjs</a:t>
            </a:r>
            <a:endParaRPr sz="1500">
              <a:latin typeface="Courier New"/>
              <a:cs typeface="Courier New"/>
            </a:endParaRPr>
          </a:p>
          <a:p>
            <a:pPr marL="380365" indent="-36830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80365" algn="l"/>
                <a:tab pos="381000" algn="l"/>
              </a:tabLst>
            </a:pPr>
            <a:r>
              <a:rPr sz="1500" spc="-5" dirty="0">
                <a:latin typeface="Courier New"/>
                <a:cs typeface="Courier New"/>
              </a:rPr>
              <a:t>JWT</a:t>
            </a:r>
            <a:endParaRPr sz="1500">
              <a:latin typeface="Courier New"/>
              <a:cs typeface="Courier New"/>
            </a:endParaRPr>
          </a:p>
          <a:p>
            <a:pPr marL="380365" indent="-36830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80365" algn="l"/>
                <a:tab pos="381000" algn="l"/>
              </a:tabLst>
            </a:pPr>
            <a:r>
              <a:rPr sz="1500" spc="-5" dirty="0">
                <a:latin typeface="Courier New"/>
                <a:cs typeface="Courier New"/>
              </a:rPr>
              <a:t>Authentication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vs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Authorization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4" y="344539"/>
            <a:ext cx="25870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300" dirty="0"/>
              <a:t>A</a:t>
            </a:r>
            <a:r>
              <a:rPr sz="4200" cap="small" spc="300" dirty="0"/>
              <a:t>g</a:t>
            </a:r>
            <a:r>
              <a:rPr sz="4200" spc="300" dirty="0"/>
              <a:t>end</a:t>
            </a:r>
            <a:r>
              <a:rPr sz="4200" cap="small" spc="300" dirty="0"/>
              <a:t>a</a:t>
            </a:r>
            <a:endParaRPr sz="4200" spc="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4C39B-A237-578C-0496-DCA30633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F461BC-60C2-FFDB-0B39-86BA31B55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4" y="1169398"/>
            <a:ext cx="3263900" cy="238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spc="-5" dirty="0">
                <a:latin typeface="Courier New"/>
                <a:cs typeface="Courier New"/>
              </a:rPr>
              <a:t>encryption is a two-way 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function that includes 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encryption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and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decryption </a:t>
            </a:r>
            <a:r>
              <a:rPr sz="1700" spc="-100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while</a:t>
            </a:r>
            <a:r>
              <a:rPr sz="1700" spc="-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hashing</a:t>
            </a:r>
            <a:r>
              <a:rPr sz="1700" spc="-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is a</a:t>
            </a:r>
            <a:endParaRPr sz="1700">
              <a:latin typeface="Courier New"/>
              <a:cs typeface="Courier New"/>
            </a:endParaRPr>
          </a:p>
          <a:p>
            <a:pPr marL="12700" marR="5080">
              <a:lnSpc>
                <a:spcPct val="113999"/>
              </a:lnSpc>
            </a:pPr>
            <a:r>
              <a:rPr sz="1700" spc="-5" dirty="0">
                <a:latin typeface="Courier New"/>
                <a:cs typeface="Courier New"/>
              </a:rPr>
              <a:t>one-way function that 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changes a plain text to a </a:t>
            </a:r>
            <a:r>
              <a:rPr sz="1700" spc="-10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unique digest that is 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irreversible.</a:t>
            </a:r>
            <a:endParaRPr sz="17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9727" y="1388404"/>
            <a:ext cx="4619317" cy="34179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9822" y="285750"/>
            <a:ext cx="7851775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300" dirty="0"/>
              <a:t>H</a:t>
            </a:r>
            <a:r>
              <a:rPr sz="4200" cap="small" spc="300" dirty="0"/>
              <a:t>a</a:t>
            </a:r>
            <a:r>
              <a:rPr sz="4200" spc="300" dirty="0"/>
              <a:t>s</a:t>
            </a:r>
            <a:r>
              <a:rPr sz="4200" cap="small" spc="300" dirty="0"/>
              <a:t>h</a:t>
            </a:r>
            <a:r>
              <a:rPr sz="4200" spc="300" dirty="0"/>
              <a:t>in</a:t>
            </a:r>
            <a:r>
              <a:rPr sz="4200" cap="small" spc="300" dirty="0"/>
              <a:t>g</a:t>
            </a:r>
            <a:r>
              <a:rPr sz="4200" spc="300" dirty="0"/>
              <a:t> </a:t>
            </a:r>
            <a:r>
              <a:rPr sz="4200" cap="small" spc="300" dirty="0"/>
              <a:t>v</a:t>
            </a:r>
            <a:r>
              <a:rPr sz="4200" spc="300" dirty="0"/>
              <a:t>s EncRyp</a:t>
            </a:r>
            <a:r>
              <a:rPr sz="4200" cap="small" spc="300" dirty="0"/>
              <a:t>t</a:t>
            </a:r>
            <a:r>
              <a:rPr sz="4200" spc="300" dirty="0"/>
              <a:t>i</a:t>
            </a:r>
            <a:r>
              <a:rPr sz="4200" cap="small" spc="300" dirty="0"/>
              <a:t>o</a:t>
            </a:r>
            <a:r>
              <a:rPr sz="4200" spc="300" dirty="0"/>
              <a:t>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9F2AB-D428-B04D-D2C8-7E6AC7275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CA2ED8-5343-9253-5011-102FA0D9E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3274" y="3355869"/>
            <a:ext cx="3518535" cy="213360"/>
          </a:xfrm>
          <a:custGeom>
            <a:avLst/>
            <a:gdLst/>
            <a:ahLst/>
            <a:cxnLst/>
            <a:rect l="l" t="t" r="r" b="b"/>
            <a:pathLst>
              <a:path w="3518535" h="213360">
                <a:moveTo>
                  <a:pt x="3518476" y="213358"/>
                </a:moveTo>
                <a:lnTo>
                  <a:pt x="0" y="213358"/>
                </a:lnTo>
                <a:lnTo>
                  <a:pt x="0" y="0"/>
                </a:lnTo>
                <a:lnTo>
                  <a:pt x="3518476" y="0"/>
                </a:lnTo>
                <a:lnTo>
                  <a:pt x="3518476" y="213358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3274" y="3797829"/>
            <a:ext cx="3625215" cy="213360"/>
          </a:xfrm>
          <a:custGeom>
            <a:avLst/>
            <a:gdLst/>
            <a:ahLst/>
            <a:cxnLst/>
            <a:rect l="l" t="t" r="r" b="b"/>
            <a:pathLst>
              <a:path w="3625215" h="213360">
                <a:moveTo>
                  <a:pt x="3625096" y="213358"/>
                </a:moveTo>
                <a:lnTo>
                  <a:pt x="0" y="213358"/>
                </a:lnTo>
                <a:lnTo>
                  <a:pt x="0" y="0"/>
                </a:lnTo>
                <a:lnTo>
                  <a:pt x="3625096" y="0"/>
                </a:lnTo>
                <a:lnTo>
                  <a:pt x="3625096" y="213358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3274" y="4239790"/>
            <a:ext cx="4691380" cy="213360"/>
          </a:xfrm>
          <a:custGeom>
            <a:avLst/>
            <a:gdLst/>
            <a:ahLst/>
            <a:cxnLst/>
            <a:rect l="l" t="t" r="r" b="b"/>
            <a:pathLst>
              <a:path w="4691380" h="213360">
                <a:moveTo>
                  <a:pt x="4691302" y="213358"/>
                </a:moveTo>
                <a:lnTo>
                  <a:pt x="0" y="213358"/>
                </a:lnTo>
                <a:lnTo>
                  <a:pt x="0" y="0"/>
                </a:lnTo>
                <a:lnTo>
                  <a:pt x="4691302" y="0"/>
                </a:lnTo>
                <a:lnTo>
                  <a:pt x="4691302" y="213358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0874" y="1297340"/>
            <a:ext cx="67462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bcrypt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npm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package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is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one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of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most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packages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work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passwords in JavaScript.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85075" y="1297340"/>
            <a:ext cx="4521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with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874" y="1937420"/>
            <a:ext cx="663955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you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never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store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password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plain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text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or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place.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8395" y="1937420"/>
            <a:ext cx="9855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any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other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74" y="2538257"/>
            <a:ext cx="6212840" cy="176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marR="5080" indent="-139700">
              <a:lnSpc>
                <a:spcPct val="1184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you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generate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hash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from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password,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you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store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that.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var bcrypt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b="1" spc="10" dirty="0">
                <a:latin typeface="Cambria"/>
                <a:cs typeface="Cambria"/>
              </a:rPr>
              <a:t>=</a:t>
            </a:r>
            <a:r>
              <a:rPr sz="1400" b="1" spc="215" dirty="0">
                <a:latin typeface="Cambria"/>
                <a:cs typeface="Cambria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require('bcryptjs');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 marL="1524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var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salt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b="1" spc="10" dirty="0">
                <a:latin typeface="Cambria"/>
                <a:cs typeface="Cambria"/>
              </a:rPr>
              <a:t>=</a:t>
            </a:r>
            <a:r>
              <a:rPr sz="1400" b="1" spc="225" dirty="0">
                <a:latin typeface="Cambria"/>
                <a:cs typeface="Cambria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bcrypt.genSaltSync(10);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Courier New"/>
              <a:cs typeface="Courier New"/>
            </a:endParaRPr>
          </a:p>
          <a:p>
            <a:pPr marL="1524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var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hash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b="1" spc="10" dirty="0">
                <a:latin typeface="Cambria"/>
                <a:cs typeface="Cambria"/>
              </a:rPr>
              <a:t>=</a:t>
            </a:r>
            <a:r>
              <a:rPr sz="1400" b="1" spc="235" dirty="0">
                <a:latin typeface="Cambria"/>
                <a:cs typeface="Cambria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bcrypt.hashSync("B4c0/\/",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salt);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2400" y="235791"/>
            <a:ext cx="42672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BcRyp</a:t>
            </a:r>
            <a:r>
              <a:rPr sz="4200" cap="small" dirty="0"/>
              <a:t>t</a:t>
            </a:r>
            <a:r>
              <a:rPr sz="4200" dirty="0"/>
              <a:t> Js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354BF9-DEF4-862D-2540-019313D44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DC4CD2-29E1-9D98-6629-FF0BC0B05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024" y="1190993"/>
            <a:ext cx="7719059" cy="260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080">
              <a:lnSpc>
                <a:spcPct val="119400"/>
              </a:lnSpc>
              <a:spcBef>
                <a:spcPts val="100"/>
              </a:spcBef>
            </a:pPr>
            <a:r>
              <a:rPr sz="1600" spc="-5" dirty="0">
                <a:latin typeface="Courier New"/>
                <a:cs typeface="Courier New"/>
              </a:rPr>
              <a:t>Given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the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same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password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and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a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hash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it’s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possible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to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find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out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if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the hash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was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built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from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that password,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using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the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bcrypt.compare()function: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bcrypt.compare("B4c0/\/",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hash,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function(err,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res)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38150">
              <a:lnSpc>
                <a:spcPct val="100000"/>
              </a:lnSpc>
              <a:spcBef>
                <a:spcPts val="309"/>
              </a:spcBef>
            </a:pPr>
            <a:r>
              <a:rPr sz="1600" i="1" spc="-5" dirty="0">
                <a:latin typeface="Courier New"/>
                <a:cs typeface="Courier New"/>
              </a:rPr>
              <a:t>//</a:t>
            </a:r>
            <a:r>
              <a:rPr sz="1600" i="1" spc="-20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res</a:t>
            </a:r>
            <a:r>
              <a:rPr sz="1600" i="1" spc="-1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===</a:t>
            </a:r>
            <a:r>
              <a:rPr sz="1600" i="1" spc="-20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true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600" spc="-5" dirty="0">
                <a:latin typeface="Courier New"/>
                <a:cs typeface="Courier New"/>
              </a:rPr>
              <a:t>});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824" y="280289"/>
            <a:ext cx="35845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300" dirty="0"/>
              <a:t>BcRyp</a:t>
            </a:r>
            <a:r>
              <a:rPr sz="4200" cap="small" spc="300" dirty="0"/>
              <a:t>t</a:t>
            </a:r>
            <a:r>
              <a:rPr sz="4200" spc="300" dirty="0"/>
              <a:t> Js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694A9-2B8D-B583-9116-D6BB73F8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00642D-3715-C2FE-1AEC-C54AEBEFD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546" y="1214601"/>
            <a:ext cx="7307238" cy="380126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7825" y="204089"/>
            <a:ext cx="12223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300" dirty="0">
                <a:solidFill>
                  <a:srgbClr val="212121"/>
                </a:solidFill>
                <a:latin typeface="Trebuchet MS"/>
                <a:cs typeface="Trebuchet MS"/>
              </a:rPr>
              <a:t>JWT</a:t>
            </a:r>
            <a:endParaRPr sz="4200" spc="300" dirty="0">
              <a:latin typeface="Trebuchet MS"/>
              <a:cs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871B5-32E7-758E-0933-285EC192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7DF78-31DD-3120-5BE3-E47F887C9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4675" y="1017649"/>
            <a:ext cx="5426989" cy="395813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7825" y="204089"/>
            <a:ext cx="5721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1410" dirty="0">
                <a:solidFill>
                  <a:srgbClr val="212121"/>
                </a:solidFill>
                <a:latin typeface="Trebuchet MS"/>
                <a:cs typeface="Trebuchet MS"/>
              </a:rPr>
              <a:t>JWT</a:t>
            </a:r>
            <a:endParaRPr sz="4200">
              <a:latin typeface="Trebuchet MS"/>
              <a:cs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B8D18-89F7-2711-81C0-BC6F6F5BF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0864E6-A0D8-4507-6F2F-E5FD2FD54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4" y="1192033"/>
            <a:ext cx="7150100" cy="117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latin typeface="Courier New"/>
                <a:cs typeface="Courier New"/>
              </a:rPr>
              <a:t>authentication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is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the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process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of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verifying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who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someone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50">
              <a:latin typeface="Courier New"/>
              <a:cs typeface="Courier New"/>
            </a:endParaRPr>
          </a:p>
          <a:p>
            <a:pPr marL="12700" marR="5080">
              <a:lnSpc>
                <a:spcPct val="113999"/>
              </a:lnSpc>
            </a:pPr>
            <a:r>
              <a:rPr sz="1700" spc="-5" dirty="0">
                <a:latin typeface="Courier New"/>
                <a:cs typeface="Courier New"/>
              </a:rPr>
              <a:t>authorization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is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the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process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of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verifying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what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specific </a:t>
            </a:r>
            <a:r>
              <a:rPr sz="1700" spc="-100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applications,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files,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and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data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a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user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has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access</a:t>
            </a:r>
            <a:r>
              <a:rPr sz="1700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to</a:t>
            </a:r>
            <a:endParaRPr sz="17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2599" y="2752099"/>
            <a:ext cx="4734443" cy="2200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1" y="204089"/>
            <a:ext cx="8305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300" dirty="0"/>
              <a:t>Au</a:t>
            </a:r>
            <a:r>
              <a:rPr sz="3200" cap="small" spc="300" dirty="0"/>
              <a:t>th</a:t>
            </a:r>
            <a:r>
              <a:rPr sz="3200" spc="300" dirty="0"/>
              <a:t>en</a:t>
            </a:r>
            <a:r>
              <a:rPr sz="3200" cap="small" spc="300" dirty="0"/>
              <a:t>t</a:t>
            </a:r>
            <a:r>
              <a:rPr sz="3200" spc="300" dirty="0"/>
              <a:t>ic</a:t>
            </a:r>
            <a:r>
              <a:rPr sz="3200" cap="small" spc="300" dirty="0"/>
              <a:t>at</a:t>
            </a:r>
            <a:r>
              <a:rPr sz="3200" spc="300" dirty="0"/>
              <a:t>i</a:t>
            </a:r>
            <a:r>
              <a:rPr sz="3200" cap="small" spc="300" dirty="0"/>
              <a:t>o</a:t>
            </a:r>
            <a:r>
              <a:rPr sz="3200" spc="300" dirty="0"/>
              <a:t>n </a:t>
            </a:r>
            <a:r>
              <a:rPr sz="3200" cap="small" spc="300" dirty="0"/>
              <a:t>v</a:t>
            </a:r>
            <a:r>
              <a:rPr sz="3200" spc="300" dirty="0"/>
              <a:t>s Au</a:t>
            </a:r>
            <a:r>
              <a:rPr sz="3200" cap="small" spc="300" dirty="0"/>
              <a:t>tho</a:t>
            </a:r>
            <a:r>
              <a:rPr sz="3200" spc="300" dirty="0"/>
              <a:t>Riz</a:t>
            </a:r>
            <a:r>
              <a:rPr sz="3200" cap="small" spc="300" dirty="0"/>
              <a:t>at</a:t>
            </a:r>
            <a:r>
              <a:rPr sz="3200" spc="300" dirty="0"/>
              <a:t>i</a:t>
            </a:r>
            <a:r>
              <a:rPr sz="3200" cap="small" spc="300" dirty="0"/>
              <a:t>o</a:t>
            </a:r>
            <a:r>
              <a:rPr sz="3200" spc="300" dirty="0"/>
              <a:t>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DA48D-FCD1-F02C-8432-86D7A8932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8F97BB-7B54-1197-E1B6-718543A9A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1" y="1074410"/>
            <a:ext cx="624840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T</a:t>
            </a:r>
            <a:r>
              <a:rPr cap="small" spc="300" dirty="0"/>
              <a:t>ha</a:t>
            </a:r>
            <a:r>
              <a:rPr spc="300" dirty="0"/>
              <a:t>nk y</a:t>
            </a:r>
            <a:r>
              <a:rPr cap="small" spc="300" dirty="0"/>
              <a:t>o</a:t>
            </a:r>
            <a:r>
              <a:rPr spc="300" dirty="0"/>
              <a:t>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C188B-BAE2-54EA-F2FE-E2C6015D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9" y="133350"/>
            <a:ext cx="10191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29CDBA-1507-B1C5-588F-F637C78B8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2862"/>
            <a:ext cx="685800" cy="333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225</Words>
  <Application>Microsoft Office PowerPoint</Application>
  <PresentationFormat>On-screen Show (16:9)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Cambria</vt:lpstr>
      <vt:lpstr>Courier New</vt:lpstr>
      <vt:lpstr>Lato</vt:lpstr>
      <vt:lpstr>Microsoft Sans Serif</vt:lpstr>
      <vt:lpstr>Trebuchet MS</vt:lpstr>
      <vt:lpstr>Office Theme</vt:lpstr>
      <vt:lpstr>PowerPoint Presentation</vt:lpstr>
      <vt:lpstr>Agenda</vt:lpstr>
      <vt:lpstr>Hashing vs EncRyption</vt:lpstr>
      <vt:lpstr>BcRypt Js</vt:lpstr>
      <vt:lpstr>BcRypt Js</vt:lpstr>
      <vt:lpstr>PowerPoint Presentation</vt:lpstr>
      <vt:lpstr>PowerPoint Presentation</vt:lpstr>
      <vt:lpstr>Authentication vs AuthoRization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 Lecture 4</dc:title>
  <cp:lastModifiedBy>Ahmad Mohamd Foaad</cp:lastModifiedBy>
  <cp:revision>2</cp:revision>
  <dcterms:created xsi:type="dcterms:W3CDTF">2024-11-29T11:18:34Z</dcterms:created>
  <dcterms:modified xsi:type="dcterms:W3CDTF">2026-06-27T20:25:34Z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