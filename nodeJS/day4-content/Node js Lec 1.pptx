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9144000" cy="51435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0" y="1714499"/>
                </a:moveTo>
                <a:lnTo>
                  <a:pt x="9143999" y="1714499"/>
                </a:lnTo>
                <a:lnTo>
                  <a:pt x="9143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08736" y="464810"/>
            <a:ext cx="2526526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3262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0725" y="1985447"/>
            <a:ext cx="3759200" cy="29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1212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765" y="1074410"/>
            <a:ext cx="2980469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416" y="2350272"/>
            <a:ext cx="8167166" cy="2457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3262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9865">
              <a:lnSpc>
                <a:spcPct val="100000"/>
              </a:lnSpc>
              <a:spcBef>
                <a:spcPts val="100"/>
              </a:spcBef>
            </a:pPr>
            <a:r>
              <a:rPr lang="pt-BR" spc="-2045" dirty="0"/>
              <a:t>N</a:t>
            </a:r>
            <a:r>
              <a:rPr lang="pt-BR" cap="small" spc="-1620" dirty="0"/>
              <a:t>o</a:t>
            </a:r>
            <a:r>
              <a:rPr lang="pt-BR" spc="-2105" dirty="0"/>
              <a:t>de</a:t>
            </a:r>
            <a:r>
              <a:rPr lang="pt-BR" spc="-950" dirty="0"/>
              <a:t> </a:t>
            </a:r>
            <a:r>
              <a:rPr lang="pt-BR" spc="-1090" dirty="0"/>
              <a:t>js</a:t>
            </a:r>
            <a:r>
              <a:rPr lang="en-US" spc="-1090" dirty="0"/>
              <a:t> </a:t>
            </a:r>
            <a:r>
              <a:rPr lang="en-US" spc="-2205" dirty="0"/>
              <a:t>Lec</a:t>
            </a:r>
            <a:r>
              <a:rPr lang="en-US" cap="small" spc="-1870" dirty="0"/>
              <a:t>t</a:t>
            </a:r>
            <a:r>
              <a:rPr lang="en-US" spc="-2000" dirty="0"/>
              <a:t>ure</a:t>
            </a:r>
            <a:r>
              <a:rPr lang="en-US" spc="-950" dirty="0"/>
              <a:t> </a:t>
            </a:r>
            <a:r>
              <a:rPr lang="en-US" spc="-2540" dirty="0"/>
              <a:t>1</a:t>
            </a:r>
            <a:endParaRPr lang="pt-BR" spc="-254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7C6C04-5295-9B74-6888-38CC67722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7B683F-C284-36F6-567F-61E8F748A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4772"/>
            <a:ext cx="1219200" cy="600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25DC4B-B301-2A0C-A885-E081F5CD4C50}"/>
              </a:ext>
            </a:extLst>
          </p:cNvPr>
          <p:cNvSpPr txBox="1"/>
          <p:nvPr/>
        </p:nvSpPr>
        <p:spPr>
          <a:xfrm>
            <a:off x="3200400" y="4019550"/>
            <a:ext cx="4572000" cy="35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National Telecommunication Institute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157F3-77C4-C839-141C-C57D398EC021}"/>
              </a:ext>
            </a:extLst>
          </p:cNvPr>
          <p:cNvSpPr txBox="1"/>
          <p:nvPr/>
        </p:nvSpPr>
        <p:spPr>
          <a:xfrm>
            <a:off x="2438400" y="4502231"/>
            <a:ext cx="4572000" cy="35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Ministry of Communications and Information Technology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11480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90" dirty="0"/>
              <a:t>A</a:t>
            </a:r>
            <a:r>
              <a:rPr sz="4200" cap="small" spc="-800" dirty="0"/>
              <a:t>g</a:t>
            </a:r>
            <a:r>
              <a:rPr sz="4200" spc="-894" dirty="0"/>
              <a:t>end</a:t>
            </a:r>
            <a:r>
              <a:rPr sz="4200" cap="small" spc="-869" dirty="0"/>
              <a:t>a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475249" y="1157300"/>
            <a:ext cx="2861310" cy="207327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Web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What</a:t>
            </a:r>
            <a:r>
              <a:rPr sz="1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is</a:t>
            </a:r>
            <a:r>
              <a:rPr sz="1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Node.js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Node.js</a:t>
            </a:r>
            <a:r>
              <a:rPr sz="1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vs</a:t>
            </a:r>
            <a:r>
              <a:rPr sz="1800" spc="-1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Browser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global,</a:t>
            </a:r>
            <a:r>
              <a:rPr sz="1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REPL,</a:t>
            </a:r>
            <a:r>
              <a:rPr sz="1800" spc="-1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Argv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Core</a:t>
            </a:r>
            <a:r>
              <a:rPr sz="1800" spc="-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Modules(fs)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63665-8F21-F267-2994-01D6D7D7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80975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4BF2C5-6537-1F87-5A53-D7CF7B6E3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555" y="647833"/>
            <a:ext cx="6606015" cy="40067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029949-0D98-6EB3-7817-E0FA46BC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ED6D36-E0F2-E789-485B-4A8412F6B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325" y="279350"/>
            <a:ext cx="6120375" cy="48641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35CC56-01A9-974A-899E-8F1B7E77E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189FF6-3592-E0B8-BD4A-AEA721284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708" y="314677"/>
            <a:ext cx="6610667" cy="4378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9E3956-916C-CCB1-719B-13F17F93B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040D96-E992-F838-4460-344719D78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3200" y="382624"/>
            <a:ext cx="1085850" cy="54864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spc="-919" dirty="0"/>
              <a:t>N</a:t>
            </a:r>
            <a:r>
              <a:rPr sz="3600" cap="small" spc="-745" dirty="0"/>
              <a:t>o</a:t>
            </a:r>
            <a:r>
              <a:rPr sz="3600" spc="-950" dirty="0"/>
              <a:t>de</a:t>
            </a:r>
            <a:r>
              <a:rPr sz="3600" spc="-430" dirty="0"/>
              <a:t> </a:t>
            </a:r>
            <a:r>
              <a:rPr sz="3600" spc="-450" dirty="0"/>
              <a:t>js: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50500" y="1154847"/>
            <a:ext cx="3759200" cy="37401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spc="-5" dirty="0">
                <a:latin typeface="Courier New"/>
                <a:cs typeface="Courier New"/>
              </a:rPr>
              <a:t>Node.js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uses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an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event-driven,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16100"/>
              </a:lnSpc>
            </a:pPr>
            <a:r>
              <a:rPr sz="1400" spc="-5" dirty="0">
                <a:latin typeface="Courier New"/>
                <a:cs typeface="Courier New"/>
              </a:rPr>
              <a:t>non-blocking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I/O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model,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which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makes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it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lightweight</a:t>
            </a:r>
            <a:r>
              <a:rPr sz="1400" spc="-5" dirty="0">
                <a:solidFill>
                  <a:srgbClr val="666666"/>
                </a:solidFill>
                <a:latin typeface="Courier New"/>
                <a:cs typeface="Courier New"/>
              </a:rPr>
              <a:t>.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Courier New"/>
              <a:cs typeface="Courier New"/>
            </a:endParaRPr>
          </a:p>
          <a:p>
            <a:pPr marL="12700" marR="325120">
              <a:lnSpc>
                <a:spcPct val="116100"/>
              </a:lnSpc>
            </a:pP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Node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js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is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single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thread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(single </a:t>
            </a:r>
            <a:r>
              <a:rPr sz="1400" spc="-82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threaded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but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highly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scalable).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Courier New"/>
              <a:cs typeface="Courier New"/>
            </a:endParaRPr>
          </a:p>
          <a:p>
            <a:pPr marL="12700" marR="5080">
              <a:lnSpc>
                <a:spcPct val="116100"/>
              </a:lnSpc>
            </a:pP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In Node, we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don’t have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browser 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environment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objects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such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as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window 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or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the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document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object.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Instead,</a:t>
            </a:r>
            <a:r>
              <a:rPr sz="1400" spc="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we </a:t>
            </a:r>
            <a:r>
              <a:rPr sz="1400" spc="-82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have other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objects that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are not 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available in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browsers, such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as 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objects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for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working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with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the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file </a:t>
            </a:r>
            <a:r>
              <a:rPr sz="140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system, network, operating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system,</a:t>
            </a:r>
            <a:r>
              <a:rPr sz="14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29"/>
                </a:solidFill>
                <a:latin typeface="Courier New"/>
                <a:cs typeface="Courier New"/>
              </a:rPr>
              <a:t>etc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725" y="247579"/>
            <a:ext cx="37973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Node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is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a</a:t>
            </a:r>
            <a:r>
              <a:rPr sz="1500" spc="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runtime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environment</a:t>
            </a:r>
            <a:r>
              <a:rPr sz="1500" spc="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for </a:t>
            </a:r>
            <a:r>
              <a:rPr sz="1500" spc="-88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executing JS code.it’s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not a 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programming</a:t>
            </a:r>
            <a:r>
              <a:rPr sz="1500" spc="4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language.Node</a:t>
            </a:r>
            <a:r>
              <a:rPr sz="1500" spc="4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is</a:t>
            </a:r>
            <a:r>
              <a:rPr sz="1500" spc="5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a 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C++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program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that</a:t>
            </a:r>
            <a:r>
              <a:rPr sz="1500" spc="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embeds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Chrome’s 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v8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engine,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the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fastest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JS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engine </a:t>
            </a:r>
            <a:r>
              <a:rPr sz="150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in</a:t>
            </a:r>
            <a:r>
              <a:rPr sz="1500" spc="-1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1500" spc="-5" dirty="0">
                <a:solidFill>
                  <a:srgbClr val="333333"/>
                </a:solidFill>
                <a:latin typeface="Courier New"/>
                <a:cs typeface="Courier New"/>
              </a:rPr>
              <a:t>the world.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Node</a:t>
            </a:r>
            <a:r>
              <a:rPr dirty="0"/>
              <a:t> </a:t>
            </a:r>
            <a:r>
              <a:rPr spc="-5" dirty="0"/>
              <a:t>created</a:t>
            </a:r>
            <a:r>
              <a:rPr dirty="0"/>
              <a:t> </a:t>
            </a:r>
            <a:r>
              <a:rPr spc="-5" dirty="0"/>
              <a:t>by</a:t>
            </a:r>
            <a:r>
              <a:rPr dirty="0"/>
              <a:t> </a:t>
            </a:r>
            <a:r>
              <a:rPr spc="-5" dirty="0"/>
              <a:t>Ryan</a:t>
            </a:r>
            <a:r>
              <a:rPr dirty="0"/>
              <a:t> </a:t>
            </a:r>
            <a:r>
              <a:rPr spc="-5" dirty="0"/>
              <a:t>Dahl</a:t>
            </a:r>
            <a:r>
              <a:rPr dirty="0"/>
              <a:t> </a:t>
            </a:r>
            <a:r>
              <a:rPr spc="-5" dirty="0"/>
              <a:t>in</a:t>
            </a:r>
            <a:r>
              <a:rPr dirty="0"/>
              <a:t> </a:t>
            </a:r>
            <a:r>
              <a:rPr spc="-5" dirty="0"/>
              <a:t>2009.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spc="-5" dirty="0">
                <a:solidFill>
                  <a:srgbClr val="000000"/>
                </a:solidFill>
              </a:rPr>
              <a:t>its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an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Open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Source,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Cross-platform, </a:t>
            </a:r>
            <a:r>
              <a:rPr spc="-8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runtime</a:t>
            </a:r>
            <a:r>
              <a:rPr spc="4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environment</a:t>
            </a:r>
            <a:r>
              <a:rPr spc="5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for</a:t>
            </a:r>
            <a:r>
              <a:rPr spc="5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server- 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side and a high performance 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networking applications.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marL="12700" marR="5080">
              <a:lnSpc>
                <a:spcPct val="100000"/>
              </a:lnSpc>
              <a:spcBef>
                <a:spcPts val="1430"/>
              </a:spcBef>
            </a:pPr>
            <a:r>
              <a:rPr spc="-5" dirty="0">
                <a:solidFill>
                  <a:srgbClr val="000000"/>
                </a:solidFill>
              </a:rPr>
              <a:t>Popular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companies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using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node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js: 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Netflix,Nasa,Trello,Paypal,Linkedin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,Uber,....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b="1" spc="-5" dirty="0">
                <a:latin typeface="Courier New"/>
                <a:cs typeface="Courier New"/>
              </a:rPr>
              <a:t>Last</a:t>
            </a:r>
            <a:r>
              <a:rPr b="1" spc="-10" dirty="0">
                <a:latin typeface="Courier New"/>
                <a:cs typeface="Courier New"/>
              </a:rPr>
              <a:t> </a:t>
            </a:r>
            <a:r>
              <a:rPr b="1" spc="-5" dirty="0">
                <a:latin typeface="Courier New"/>
                <a:cs typeface="Courier New"/>
              </a:rPr>
              <a:t>version</a:t>
            </a:r>
            <a:r>
              <a:rPr b="1" spc="-10" dirty="0">
                <a:latin typeface="Courier New"/>
                <a:cs typeface="Courier New"/>
              </a:rPr>
              <a:t> </a:t>
            </a:r>
            <a:r>
              <a:rPr b="1" spc="-5" dirty="0">
                <a:latin typeface="Courier New"/>
                <a:cs typeface="Courier New"/>
              </a:rPr>
              <a:t>:22.3.0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0B216-1FE4-E949-782C-0EE80127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33350"/>
            <a:ext cx="1019175" cy="485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FCE41-756E-AEB7-AAAE-CC5DC861B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19645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25" y="801109"/>
            <a:ext cx="8839199" cy="34470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F2DA58-CFF3-2536-F072-EFB96080C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D41CA4-D15D-83BE-F55E-E81E5D2BF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1850"/>
            <a:ext cx="8839201" cy="4039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091796-3DFD-ACBE-A553-125145005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020" y="66075"/>
            <a:ext cx="10191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1689B7-4390-0405-4159-9C7C628C2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250" y="230224"/>
            <a:ext cx="3613785" cy="54864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spc="-1015" dirty="0"/>
              <a:t>B</a:t>
            </a:r>
            <a:r>
              <a:rPr sz="3600" cap="small" spc="-720" dirty="0"/>
              <a:t>loc</a:t>
            </a:r>
            <a:r>
              <a:rPr sz="3600" spc="-459" dirty="0"/>
              <a:t>kin</a:t>
            </a:r>
            <a:r>
              <a:rPr sz="3600" cap="small" spc="-705" dirty="0"/>
              <a:t>g</a:t>
            </a:r>
            <a:r>
              <a:rPr sz="3600" spc="-430" dirty="0"/>
              <a:t> </a:t>
            </a:r>
            <a:r>
              <a:rPr sz="3600" cap="small" spc="-540" dirty="0"/>
              <a:t>v</a:t>
            </a:r>
            <a:r>
              <a:rPr sz="3600" spc="-665" dirty="0"/>
              <a:t>s</a:t>
            </a:r>
            <a:r>
              <a:rPr sz="3600" spc="-430" dirty="0"/>
              <a:t> </a:t>
            </a:r>
            <a:r>
              <a:rPr sz="3600" spc="-405" dirty="0"/>
              <a:t>n</a:t>
            </a:r>
            <a:r>
              <a:rPr sz="3600" cap="small" spc="-745" dirty="0"/>
              <a:t>o</a:t>
            </a:r>
            <a:r>
              <a:rPr sz="3600" spc="-459" dirty="0"/>
              <a:t>n-B</a:t>
            </a:r>
            <a:r>
              <a:rPr sz="3600" cap="small" spc="-720" dirty="0"/>
              <a:t>loc</a:t>
            </a:r>
            <a:r>
              <a:rPr sz="3600" spc="-459" dirty="0"/>
              <a:t>kin</a:t>
            </a:r>
            <a:r>
              <a:rPr sz="3600" cap="small" spc="-705" dirty="0"/>
              <a:t>g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7750" y="1011725"/>
          <a:ext cx="8344534" cy="9563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504">
                <a:tc gridSpan="2">
                  <a:txBody>
                    <a:bodyPr/>
                    <a:lstStyle/>
                    <a:p>
                      <a:pPr>
                        <a:lnSpc>
                          <a:spcPts val="1625"/>
                        </a:lnSpc>
                      </a:pP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Consider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scenario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we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request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backend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database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details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user1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user2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then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print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them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on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screen/console.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400" spc="1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response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1016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4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this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request</a:t>
                      </a:r>
                      <a:r>
                        <a:rPr sz="1400" spc="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takes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time,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but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both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user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data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requests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can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be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carried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out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1016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504">
                <a:tc>
                  <a:txBody>
                    <a:bodyPr/>
                    <a:lstStyle/>
                    <a:p>
                      <a:pPr>
                        <a:lnSpc>
                          <a:spcPts val="1635"/>
                        </a:lnSpc>
                        <a:spcBef>
                          <a:spcPts val="80"/>
                        </a:spcBef>
                      </a:pP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independently</a:t>
                      </a:r>
                      <a:r>
                        <a:rPr sz="1400" spc="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400" spc="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1400" spc="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400" spc="10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same</a:t>
                      </a:r>
                      <a:r>
                        <a:rPr sz="1400" spc="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29"/>
                          </a:solidFill>
                          <a:latin typeface="Courier New"/>
                          <a:cs typeface="Courier New"/>
                        </a:rPr>
                        <a:t>time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10160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174" y="2495550"/>
            <a:ext cx="8312050" cy="2453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48A49D-2B6E-C7E7-0F90-8D241E8AC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2192B3-7D16-4779-1F06-518BE62E1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0" y="61453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32600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639" dirty="0"/>
              <a:t>W</a:t>
            </a:r>
            <a:r>
              <a:rPr sz="4200" cap="small" spc="-900" dirty="0"/>
              <a:t>h</a:t>
            </a:r>
            <a:r>
              <a:rPr sz="4200" spc="-844" dirty="0"/>
              <a:t>en</a:t>
            </a:r>
            <a:r>
              <a:rPr sz="4200" spc="-500" dirty="0"/>
              <a:t> </a:t>
            </a:r>
            <a:r>
              <a:rPr sz="4200" cap="small" spc="-910" dirty="0"/>
              <a:t>to</a:t>
            </a:r>
            <a:r>
              <a:rPr sz="4200" spc="-500" dirty="0"/>
              <a:t> </a:t>
            </a:r>
            <a:r>
              <a:rPr sz="4200" spc="-990" dirty="0"/>
              <a:t>use</a:t>
            </a:r>
            <a:r>
              <a:rPr sz="4200" spc="-500" dirty="0"/>
              <a:t> </a:t>
            </a:r>
            <a:r>
              <a:rPr sz="4200" spc="-470" dirty="0"/>
              <a:t>n</a:t>
            </a:r>
            <a:r>
              <a:rPr sz="4200" cap="small" spc="-844" dirty="0"/>
              <a:t>o</a:t>
            </a:r>
            <a:r>
              <a:rPr sz="4200" spc="-1105" dirty="0"/>
              <a:t>de</a:t>
            </a:r>
            <a:r>
              <a:rPr sz="4200" spc="-500" dirty="0"/>
              <a:t> </a:t>
            </a:r>
            <a:r>
              <a:rPr sz="4200" spc="-660" dirty="0"/>
              <a:t>js?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505993" y="1207273"/>
            <a:ext cx="814959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16100"/>
              </a:lnSpc>
              <a:spcBef>
                <a:spcPts val="100"/>
              </a:spcBef>
              <a:buFont typeface="Microsoft Sans Serif"/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latin typeface="Courier New"/>
                <a:cs typeface="Courier New"/>
              </a:rPr>
              <a:t>Node.js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is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good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for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creating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streaming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based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real-time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services,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web</a:t>
            </a:r>
            <a:r>
              <a:rPr sz="1400" spc="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chat </a:t>
            </a:r>
            <a:r>
              <a:rPr sz="1400" spc="-8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applications, static file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servers etc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333333"/>
                </a:solidFill>
                <a:latin typeface="Courier New"/>
                <a:cs typeface="Courier New"/>
              </a:rPr>
              <a:t>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marR="5080" indent="-336550">
              <a:lnSpc>
                <a:spcPct val="116100"/>
              </a:lnSpc>
              <a:spcBef>
                <a:spcPts val="100"/>
              </a:spcBef>
              <a:buFont typeface="Microsoft Sans Serif"/>
              <a:buChar char="●"/>
              <a:tabLst>
                <a:tab pos="365760" algn="l"/>
                <a:tab pos="367030" algn="l"/>
              </a:tabLst>
            </a:pPr>
            <a:r>
              <a:rPr spc="-5" dirty="0"/>
              <a:t>If</a:t>
            </a:r>
            <a:r>
              <a:rPr spc="5" dirty="0"/>
              <a:t> </a:t>
            </a:r>
            <a:r>
              <a:rPr spc="-5" dirty="0"/>
              <a:t>your</a:t>
            </a:r>
            <a:r>
              <a:rPr spc="10" dirty="0"/>
              <a:t> </a:t>
            </a:r>
            <a:r>
              <a:rPr spc="-5" dirty="0"/>
              <a:t>server</a:t>
            </a:r>
            <a:r>
              <a:rPr spc="10" dirty="0"/>
              <a:t> </a:t>
            </a:r>
            <a:r>
              <a:rPr spc="-5" dirty="0"/>
              <a:t>side</a:t>
            </a:r>
            <a:r>
              <a:rPr spc="10" dirty="0"/>
              <a:t> </a:t>
            </a:r>
            <a:r>
              <a:rPr spc="-5" dirty="0"/>
              <a:t>code</a:t>
            </a:r>
            <a:r>
              <a:rPr spc="10" dirty="0"/>
              <a:t> </a:t>
            </a:r>
            <a:r>
              <a:rPr spc="-5" dirty="0"/>
              <a:t>requires</a:t>
            </a:r>
            <a:r>
              <a:rPr spc="10" dirty="0"/>
              <a:t> </a:t>
            </a:r>
            <a:r>
              <a:rPr spc="-5" dirty="0"/>
              <a:t>very</a:t>
            </a:r>
            <a:r>
              <a:rPr spc="10" dirty="0"/>
              <a:t> </a:t>
            </a:r>
            <a:r>
              <a:rPr spc="-5" dirty="0"/>
              <a:t>few</a:t>
            </a:r>
            <a:r>
              <a:rPr spc="10" dirty="0"/>
              <a:t> </a:t>
            </a:r>
            <a:r>
              <a:rPr spc="-5" dirty="0"/>
              <a:t>cpu</a:t>
            </a:r>
            <a:r>
              <a:rPr spc="10" dirty="0"/>
              <a:t> </a:t>
            </a:r>
            <a:r>
              <a:rPr spc="-5" dirty="0"/>
              <a:t>cycles.</a:t>
            </a:r>
            <a:r>
              <a:rPr spc="10" dirty="0"/>
              <a:t> </a:t>
            </a:r>
            <a:r>
              <a:rPr spc="-5" dirty="0"/>
              <a:t>In</a:t>
            </a:r>
            <a:r>
              <a:rPr spc="10" dirty="0"/>
              <a:t> </a:t>
            </a:r>
            <a:r>
              <a:rPr spc="-5" dirty="0"/>
              <a:t>other</a:t>
            </a:r>
            <a:r>
              <a:rPr spc="10" dirty="0"/>
              <a:t> </a:t>
            </a:r>
            <a:r>
              <a:rPr spc="-5" dirty="0"/>
              <a:t>words</a:t>
            </a:r>
            <a:r>
              <a:rPr spc="10" dirty="0"/>
              <a:t> </a:t>
            </a:r>
            <a:r>
              <a:rPr spc="-5" dirty="0"/>
              <a:t>you </a:t>
            </a:r>
            <a:r>
              <a:rPr spc="-825" dirty="0"/>
              <a:t> </a:t>
            </a:r>
            <a:r>
              <a:rPr spc="-5" dirty="0"/>
              <a:t>are</a:t>
            </a:r>
            <a:r>
              <a:rPr spc="5" dirty="0"/>
              <a:t> </a:t>
            </a:r>
            <a:r>
              <a:rPr spc="-5" dirty="0"/>
              <a:t>doing</a:t>
            </a:r>
            <a:r>
              <a:rPr spc="10" dirty="0"/>
              <a:t> </a:t>
            </a:r>
            <a:r>
              <a:rPr spc="-5" dirty="0"/>
              <a:t>non</a:t>
            </a:r>
            <a:r>
              <a:rPr spc="10" dirty="0"/>
              <a:t> </a:t>
            </a:r>
            <a:r>
              <a:rPr spc="-5" dirty="0"/>
              <a:t>blocking</a:t>
            </a:r>
            <a:r>
              <a:rPr spc="10" dirty="0"/>
              <a:t> </a:t>
            </a:r>
            <a:r>
              <a:rPr spc="-5" dirty="0"/>
              <a:t>operation</a:t>
            </a:r>
            <a:r>
              <a:rPr spc="10" dirty="0"/>
              <a:t> </a:t>
            </a:r>
            <a:r>
              <a:rPr spc="-5" dirty="0"/>
              <a:t>and</a:t>
            </a:r>
            <a:r>
              <a:rPr spc="10" dirty="0"/>
              <a:t> </a:t>
            </a:r>
            <a:r>
              <a:rPr spc="-5" dirty="0"/>
              <a:t>does</a:t>
            </a:r>
            <a:r>
              <a:rPr spc="10" dirty="0"/>
              <a:t> </a:t>
            </a:r>
            <a:r>
              <a:rPr spc="-5" dirty="0"/>
              <a:t>not</a:t>
            </a:r>
            <a:r>
              <a:rPr spc="10" dirty="0"/>
              <a:t> </a:t>
            </a:r>
            <a:r>
              <a:rPr spc="-5" dirty="0"/>
              <a:t>have</a:t>
            </a:r>
            <a:r>
              <a:rPr spc="10" dirty="0"/>
              <a:t> </a:t>
            </a:r>
            <a:r>
              <a:rPr spc="-5" dirty="0"/>
              <a:t>heavy</a:t>
            </a:r>
            <a:r>
              <a:rPr spc="10" dirty="0"/>
              <a:t> </a:t>
            </a:r>
            <a:r>
              <a:rPr spc="-5" dirty="0"/>
              <a:t>algorithm/Job </a:t>
            </a:r>
            <a:r>
              <a:rPr dirty="0"/>
              <a:t> </a:t>
            </a:r>
            <a:r>
              <a:rPr spc="-5" dirty="0"/>
              <a:t>which consumes lots of CPU cycles.</a:t>
            </a:r>
          </a:p>
          <a:p>
            <a:pPr marL="17145">
              <a:lnSpc>
                <a:spcPct val="100000"/>
              </a:lnSpc>
              <a:spcBef>
                <a:spcPts val="40"/>
              </a:spcBef>
              <a:buChar char="●"/>
            </a:pPr>
            <a:endParaRPr sz="2100"/>
          </a:p>
          <a:p>
            <a:pPr marL="365760" indent="-336550">
              <a:lnSpc>
                <a:spcPct val="100000"/>
              </a:lnSpc>
              <a:buClr>
                <a:srgbClr val="666666"/>
              </a:buClr>
              <a:buFont typeface="Microsoft Sans Serif"/>
              <a:buChar char="●"/>
              <a:tabLst>
                <a:tab pos="365760" algn="l"/>
                <a:tab pos="367030" algn="l"/>
              </a:tabLst>
            </a:pPr>
            <a:r>
              <a:rPr spc="-5" dirty="0">
                <a:solidFill>
                  <a:srgbClr val="000000"/>
                </a:solidFill>
              </a:rPr>
              <a:t>Following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are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the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areas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where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Node.js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is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perfect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technology:</a:t>
            </a:r>
          </a:p>
          <a:p>
            <a:pPr marL="365760">
              <a:lnSpc>
                <a:spcPct val="100000"/>
              </a:lnSpc>
              <a:spcBef>
                <a:spcPts val="1420"/>
              </a:spcBef>
            </a:pPr>
            <a:r>
              <a:rPr spc="-5" dirty="0">
                <a:solidFill>
                  <a:srgbClr val="000000"/>
                </a:solidFill>
              </a:rPr>
              <a:t>-I/O bound Applications</a:t>
            </a:r>
          </a:p>
          <a:p>
            <a:pPr marL="365760">
              <a:lnSpc>
                <a:spcPct val="100000"/>
              </a:lnSpc>
              <a:spcBef>
                <a:spcPts val="370"/>
              </a:spcBef>
            </a:pPr>
            <a:r>
              <a:rPr spc="-5" dirty="0">
                <a:solidFill>
                  <a:srgbClr val="000000"/>
                </a:solidFill>
              </a:rPr>
              <a:t>-Data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Streaming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Applications</a:t>
            </a:r>
          </a:p>
          <a:p>
            <a:pPr marL="365760">
              <a:lnSpc>
                <a:spcPct val="100000"/>
              </a:lnSpc>
              <a:spcBef>
                <a:spcPts val="345"/>
              </a:spcBef>
            </a:pPr>
            <a:r>
              <a:rPr spc="-5" dirty="0">
                <a:solidFill>
                  <a:srgbClr val="000000"/>
                </a:solidFill>
              </a:rPr>
              <a:t>-Data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Intensive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Real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time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Applications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(DIRT)</a:t>
            </a:r>
          </a:p>
          <a:p>
            <a:pPr marL="365760">
              <a:lnSpc>
                <a:spcPct val="100000"/>
              </a:lnSpc>
              <a:spcBef>
                <a:spcPts val="345"/>
              </a:spcBef>
            </a:pPr>
            <a:r>
              <a:rPr spc="-5" dirty="0">
                <a:solidFill>
                  <a:srgbClr val="000000"/>
                </a:solidFill>
              </a:rPr>
              <a:t>-JSON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APIs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based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48043F-F0D3-531C-4285-810E09034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33350"/>
            <a:ext cx="1019175" cy="48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332665-0F50-5215-9294-462DD07D5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39420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639" dirty="0"/>
              <a:t>W</a:t>
            </a:r>
            <a:r>
              <a:rPr sz="4200" cap="small" spc="-900" dirty="0"/>
              <a:t>h</a:t>
            </a:r>
            <a:r>
              <a:rPr sz="4200" spc="-844" dirty="0"/>
              <a:t>en</a:t>
            </a:r>
            <a:r>
              <a:rPr sz="4200" spc="-500" dirty="0"/>
              <a:t> </a:t>
            </a:r>
            <a:r>
              <a:rPr sz="4200" spc="-470" dirty="0"/>
              <a:t>n</a:t>
            </a:r>
            <a:r>
              <a:rPr sz="4200" cap="small" spc="-910" dirty="0"/>
              <a:t>ot</a:t>
            </a:r>
            <a:r>
              <a:rPr sz="4200" spc="-500" dirty="0"/>
              <a:t> </a:t>
            </a:r>
            <a:r>
              <a:rPr sz="4200" cap="small" spc="-910" dirty="0"/>
              <a:t>to</a:t>
            </a:r>
            <a:r>
              <a:rPr sz="4200" spc="-500" dirty="0"/>
              <a:t> </a:t>
            </a:r>
            <a:r>
              <a:rPr sz="4200" spc="-990" dirty="0"/>
              <a:t>use</a:t>
            </a:r>
            <a:r>
              <a:rPr sz="4200" spc="-500" dirty="0"/>
              <a:t> </a:t>
            </a:r>
            <a:r>
              <a:rPr sz="4200" spc="-470" dirty="0"/>
              <a:t>n</a:t>
            </a:r>
            <a:r>
              <a:rPr sz="4200" cap="small" spc="-844" dirty="0"/>
              <a:t>o</a:t>
            </a:r>
            <a:r>
              <a:rPr sz="4200" spc="-1105" dirty="0"/>
              <a:t>de</a:t>
            </a:r>
            <a:r>
              <a:rPr sz="4200" spc="-500" dirty="0"/>
              <a:t> </a:t>
            </a:r>
            <a:r>
              <a:rPr sz="4200" spc="-660" dirty="0"/>
              <a:t>js?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505993" y="1207273"/>
            <a:ext cx="793623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 algn="just">
              <a:lnSpc>
                <a:spcPct val="116100"/>
              </a:lnSpc>
              <a:spcBef>
                <a:spcPts val="100"/>
              </a:spcBef>
              <a:buFont typeface="Microsoft Sans Serif"/>
              <a:buChar char="●"/>
              <a:tabLst>
                <a:tab pos="349250" algn="l"/>
              </a:tabLst>
            </a:pPr>
            <a:r>
              <a:rPr sz="1400" spc="-5" dirty="0">
                <a:latin typeface="Courier New"/>
                <a:cs typeface="Courier New"/>
              </a:rPr>
              <a:t>When you are doing heavy and CPU intensive calculations on server side, </a:t>
            </a:r>
            <a:r>
              <a:rPr sz="1400" spc="-8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because event-loops are CPU hungry , like : images manipulating , video </a:t>
            </a:r>
            <a:r>
              <a:rPr sz="1400" spc="-8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conversion or file compression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E16F90-38BC-E2C4-5A25-5D1D204CA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E4F398-F5CA-624D-3995-D51FC2EA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23958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245" dirty="0"/>
              <a:t>Ge</a:t>
            </a:r>
            <a:r>
              <a:rPr sz="4200" cap="small" spc="-975" dirty="0"/>
              <a:t>tt</a:t>
            </a:r>
            <a:r>
              <a:rPr sz="4200" spc="-390" dirty="0"/>
              <a:t>in</a:t>
            </a:r>
            <a:r>
              <a:rPr sz="4200" cap="small" spc="-800" dirty="0"/>
              <a:t>g</a:t>
            </a:r>
            <a:r>
              <a:rPr sz="4200" spc="-500" dirty="0"/>
              <a:t> </a:t>
            </a:r>
            <a:r>
              <a:rPr sz="4200" spc="-860" dirty="0"/>
              <a:t>S</a:t>
            </a:r>
            <a:r>
              <a:rPr sz="4200" cap="small" spc="-925" dirty="0"/>
              <a:t>ta</a:t>
            </a:r>
            <a:r>
              <a:rPr sz="4200" spc="-930" dirty="0"/>
              <a:t>r</a:t>
            </a:r>
            <a:r>
              <a:rPr sz="4200" cap="small" spc="-975" dirty="0"/>
              <a:t>t</a:t>
            </a:r>
            <a:r>
              <a:rPr sz="4200" spc="-1105" dirty="0"/>
              <a:t>ed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475249" y="3081956"/>
            <a:ext cx="2586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Install</a:t>
            </a:r>
            <a:r>
              <a:rPr sz="1800" spc="-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node</a:t>
            </a:r>
            <a:r>
              <a:rPr sz="1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js: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6339" y="3103800"/>
            <a:ext cx="4264660" cy="27432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u="heavy" spc="-5" dirty="0">
                <a:solidFill>
                  <a:srgbClr val="DB4437"/>
                </a:solidFill>
                <a:uFill>
                  <a:solidFill>
                    <a:srgbClr val="DB4437"/>
                  </a:solidFill>
                </a:uFill>
                <a:latin typeface="Courier New"/>
                <a:cs typeface="Courier New"/>
                <a:hlinkClick r:id="rId2"/>
              </a:rPr>
              <a:t>https://nodejs.org/en/download/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49" y="3396281"/>
            <a:ext cx="6564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After</a:t>
            </a:r>
            <a:r>
              <a:rPr sz="18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downloading</a:t>
            </a:r>
            <a:r>
              <a:rPr sz="18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it,</a:t>
            </a:r>
            <a:r>
              <a:rPr sz="1800" spc="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you</a:t>
            </a:r>
            <a:r>
              <a:rPr sz="18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have</a:t>
            </a:r>
            <a:r>
              <a:rPr sz="18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to</a:t>
            </a:r>
            <a:r>
              <a:rPr sz="1800" spc="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install</a:t>
            </a:r>
            <a:r>
              <a:rPr sz="18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it.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49" y="3710606"/>
            <a:ext cx="5330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Enter</a:t>
            </a:r>
            <a:r>
              <a:rPr sz="18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your</a:t>
            </a:r>
            <a:r>
              <a:rPr sz="18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folder</a:t>
            </a:r>
            <a:r>
              <a:rPr sz="18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and</a:t>
            </a:r>
            <a:r>
              <a:rPr sz="18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your</a:t>
            </a:r>
            <a:r>
              <a:rPr sz="18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app</a:t>
            </a:r>
            <a:r>
              <a:rPr sz="18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9532" y="3732450"/>
            <a:ext cx="2481580" cy="27432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node</a:t>
            </a:r>
            <a:r>
              <a:rPr sz="18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(entry</a:t>
            </a:r>
            <a:r>
              <a:rPr sz="18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point)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3400" y="292850"/>
            <a:ext cx="2784363" cy="1703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7A1DBC-04B8-A8E0-9DC6-9FE30A448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C236B7-FE33-902A-73C7-7623D8138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2916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80" dirty="0"/>
              <a:t>In</a:t>
            </a:r>
            <a:r>
              <a:rPr sz="4200" cap="small" spc="-975" dirty="0"/>
              <a:t>t</a:t>
            </a:r>
            <a:r>
              <a:rPr sz="4200" spc="-1330" dirty="0"/>
              <a:t>R</a:t>
            </a:r>
            <a:r>
              <a:rPr sz="4200" cap="small" spc="-844" dirty="0"/>
              <a:t>o</a:t>
            </a:r>
            <a:r>
              <a:rPr sz="4200" spc="-500" dirty="0"/>
              <a:t> </a:t>
            </a:r>
            <a:r>
              <a:rPr sz="4200" cap="small" spc="-910" dirty="0"/>
              <a:t>to</a:t>
            </a:r>
            <a:r>
              <a:rPr sz="4200" spc="-500" dirty="0"/>
              <a:t> </a:t>
            </a:r>
            <a:r>
              <a:rPr sz="4200" spc="-1230" dirty="0"/>
              <a:t>M</a:t>
            </a:r>
            <a:r>
              <a:rPr sz="4200" cap="small" spc="-844" dirty="0"/>
              <a:t>o</a:t>
            </a:r>
            <a:r>
              <a:rPr sz="4200" spc="-980" dirty="0"/>
              <a:t>du</a:t>
            </a:r>
            <a:r>
              <a:rPr sz="4200" cap="small" spc="-730" dirty="0"/>
              <a:t>l</a:t>
            </a:r>
            <a:r>
              <a:rPr sz="4200" spc="-1000" dirty="0"/>
              <a:t>es</a:t>
            </a:r>
            <a:r>
              <a:rPr sz="4200" spc="-500" dirty="0"/>
              <a:t> </a:t>
            </a:r>
            <a:r>
              <a:rPr sz="4200" spc="-330" dirty="0"/>
              <a:t>: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384725" y="1255979"/>
            <a:ext cx="8270240" cy="292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0955" indent="-344170">
              <a:lnSpc>
                <a:spcPct val="116700"/>
              </a:lnSpc>
              <a:spcBef>
                <a:spcPts val="100"/>
              </a:spcBef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sz="1500" spc="-5" dirty="0">
                <a:latin typeface="Courier New"/>
                <a:cs typeface="Courier New"/>
              </a:rPr>
              <a:t>Module</a:t>
            </a:r>
            <a:r>
              <a:rPr sz="1500" spc="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is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a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self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contained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series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of</a:t>
            </a:r>
            <a:r>
              <a:rPr sz="1500" spc="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one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or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more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.js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files</a:t>
            </a:r>
            <a:r>
              <a:rPr sz="1500" spc="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presented </a:t>
            </a:r>
            <a:r>
              <a:rPr sz="1500" spc="-885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by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an object</a:t>
            </a:r>
            <a:endParaRPr sz="1500">
              <a:latin typeface="Courier New"/>
              <a:cs typeface="Courier New"/>
            </a:endParaRPr>
          </a:p>
          <a:p>
            <a:pPr marL="469900" marR="219075" indent="-336550">
              <a:lnSpc>
                <a:spcPct val="116100"/>
              </a:lnSpc>
              <a:spcBef>
                <a:spcPts val="30"/>
              </a:spcBef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Modules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is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where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we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can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encapsulate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related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functionality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into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single </a:t>
            </a:r>
            <a:r>
              <a:rPr sz="1400" spc="-8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file</a:t>
            </a:r>
            <a:endParaRPr sz="1400">
              <a:latin typeface="Courier New"/>
              <a:cs typeface="Courier New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lr>
                <a:srgbClr val="666666"/>
              </a:buClr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Modules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act as libaries</a:t>
            </a:r>
            <a:endParaRPr sz="1400">
              <a:latin typeface="Courier New"/>
              <a:cs typeface="Courier New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It’s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set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reusable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code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that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adds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extra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functionality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to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our</a:t>
            </a:r>
            <a:r>
              <a:rPr sz="1400" spc="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application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●"/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Node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provides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core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modules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that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can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be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included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by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their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name:</a:t>
            </a:r>
            <a:endParaRPr sz="1600">
              <a:latin typeface="Courier New"/>
              <a:cs typeface="Courier New"/>
            </a:endParaRPr>
          </a:p>
          <a:p>
            <a:pPr marL="469900" indent="-336550">
              <a:lnSpc>
                <a:spcPct val="100000"/>
              </a:lnSpc>
              <a:spcBef>
                <a:spcPts val="1465"/>
              </a:spcBef>
              <a:buClr>
                <a:srgbClr val="666666"/>
              </a:buClr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File System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–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require(‘fs’)</a:t>
            </a:r>
            <a:endParaRPr sz="1400">
              <a:latin typeface="Courier New"/>
              <a:cs typeface="Courier New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lr>
                <a:srgbClr val="666666"/>
              </a:buClr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Http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– require(‘http’)</a:t>
            </a:r>
            <a:endParaRPr sz="1400">
              <a:latin typeface="Courier New"/>
              <a:cs typeface="Courier New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lr>
                <a:srgbClr val="666666"/>
              </a:buClr>
              <a:buFont typeface="Microsoft Sans Serif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latin typeface="Courier New"/>
                <a:cs typeface="Courier New"/>
              </a:rPr>
              <a:t>Utilities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–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require(‘util’)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82104-787C-EF82-2989-2C83226A4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2BCFA-3F53-FA6F-4C8D-68369D4F8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16878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00" dirty="0"/>
              <a:t>FS</a:t>
            </a:r>
            <a:r>
              <a:rPr sz="4200" spc="-500" dirty="0"/>
              <a:t> </a:t>
            </a:r>
            <a:r>
              <a:rPr sz="4200" spc="-1230" dirty="0"/>
              <a:t>M</a:t>
            </a:r>
            <a:r>
              <a:rPr sz="4200" cap="small" spc="-844" dirty="0"/>
              <a:t>o</a:t>
            </a:r>
            <a:r>
              <a:rPr sz="4200" spc="-980" dirty="0"/>
              <a:t>du</a:t>
            </a:r>
            <a:r>
              <a:rPr sz="4200" cap="small" spc="-730" dirty="0"/>
              <a:t>l</a:t>
            </a:r>
            <a:r>
              <a:rPr sz="4200" spc="-775" dirty="0"/>
              <a:t>e: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875" y="1312800"/>
            <a:ext cx="7184849" cy="3608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EF3902-0B9D-1499-4495-8A10592EC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C5C70-AA85-6558-3B09-03E08EB8C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9445" y="1520443"/>
            <a:ext cx="45974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solidFill>
                  <a:srgbClr val="000000"/>
                </a:solidFill>
                <a:latin typeface="Courier New"/>
                <a:cs typeface="Courier New"/>
              </a:rPr>
              <a:t>JS in browser and Node.js </a:t>
            </a:r>
            <a:r>
              <a:rPr sz="2400" b="0" spc="-143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ourier New"/>
                <a:cs typeface="Courier New"/>
              </a:rPr>
              <a:t>Node</a:t>
            </a:r>
            <a:r>
              <a:rPr sz="2400" b="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ourier New"/>
                <a:cs typeface="Courier New"/>
              </a:rPr>
              <a:t>REPL</a:t>
            </a:r>
            <a:endParaRPr sz="24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400" b="0" spc="-5" dirty="0">
                <a:solidFill>
                  <a:srgbClr val="000000"/>
                </a:solidFill>
                <a:latin typeface="Courier New"/>
                <a:cs typeface="Courier New"/>
              </a:rPr>
              <a:t>Node</a:t>
            </a:r>
            <a:r>
              <a:rPr sz="2400" b="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ourier New"/>
                <a:cs typeface="Courier New"/>
              </a:rPr>
              <a:t>Global</a:t>
            </a:r>
            <a:r>
              <a:rPr sz="2400" b="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ourier New"/>
                <a:cs typeface="Courier New"/>
              </a:rPr>
              <a:t>Objects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2F3367-5802-1C33-2215-11CBAD0A1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5D5F9E-C9C0-8C4A-E970-69EDB69D4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0" y="1714499"/>
                </a:moveTo>
                <a:lnTo>
                  <a:pt x="9143999" y="1714499"/>
                </a:lnTo>
                <a:lnTo>
                  <a:pt x="9143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0" dirty="0"/>
              <a:t>T</a:t>
            </a:r>
            <a:r>
              <a:rPr cap="small" spc="-1695" dirty="0"/>
              <a:t>ha</a:t>
            </a:r>
            <a:r>
              <a:rPr spc="-1240" dirty="0"/>
              <a:t>nk</a:t>
            </a:r>
            <a:r>
              <a:rPr spc="-950" dirty="0"/>
              <a:t> </a:t>
            </a:r>
            <a:r>
              <a:rPr spc="-2010" dirty="0"/>
              <a:t>y</a:t>
            </a:r>
            <a:r>
              <a:rPr cap="small" spc="-1620" dirty="0"/>
              <a:t>o</a:t>
            </a:r>
            <a:r>
              <a:rPr spc="-1839" dirty="0"/>
              <a:t>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F8E4D-13A8-10AF-898A-437D3B045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64772"/>
            <a:ext cx="1019175" cy="48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E6252-6A4F-249A-47FE-1C73E211B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9" y="133350"/>
            <a:ext cx="685800" cy="3375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B443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523</Words>
  <Application>Microsoft Office PowerPoint</Application>
  <PresentationFormat>On-screen Show (16:9)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Courier New</vt:lpstr>
      <vt:lpstr>Lato</vt:lpstr>
      <vt:lpstr>Microsoft Sans Serif</vt:lpstr>
      <vt:lpstr>Times New Roman</vt:lpstr>
      <vt:lpstr>Trebuchet MS</vt:lpstr>
      <vt:lpstr>Office Theme</vt:lpstr>
      <vt:lpstr>Node js Lecture 1</vt:lpstr>
      <vt:lpstr>Agenda</vt:lpstr>
      <vt:lpstr>PowerPoint Presentation</vt:lpstr>
      <vt:lpstr>PowerPoint Presentation</vt:lpstr>
      <vt:lpstr>PowerPoint Presentation</vt:lpstr>
      <vt:lpstr>Node js:</vt:lpstr>
      <vt:lpstr>PowerPoint Presentation</vt:lpstr>
      <vt:lpstr>PowerPoint Presentation</vt:lpstr>
      <vt:lpstr>Blocking vs non-Blocking</vt:lpstr>
      <vt:lpstr>When to use node js?</vt:lpstr>
      <vt:lpstr>When not to use node js?</vt:lpstr>
      <vt:lpstr>Getting Started</vt:lpstr>
      <vt:lpstr>IntRo to Modules :</vt:lpstr>
      <vt:lpstr>FS Module:</vt:lpstr>
      <vt:lpstr>JS in browser and Node.js  Node REPL Node Global Objects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 Lec 1</dc:title>
  <dc:creator>heba ali</dc:creator>
  <cp:lastModifiedBy>Ahmad Mohamd Foaad</cp:lastModifiedBy>
  <cp:revision>2</cp:revision>
  <dcterms:created xsi:type="dcterms:W3CDTF">2024-11-18T11:58:40Z</dcterms:created>
  <dcterms:modified xsi:type="dcterms:W3CDTF">2026-06-27T20:21:49Z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