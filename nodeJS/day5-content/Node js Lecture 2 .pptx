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9144000" cy="5143500"/>
  <p:defaultTextStyle>
    <a:defPPr>
      <a:defRPr lang="ar-E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74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1395" y="464810"/>
            <a:ext cx="2601209" cy="2463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81765" y="1074410"/>
            <a:ext cx="2980469" cy="124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rgbClr val="21212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3758" y="1012443"/>
            <a:ext cx="8076482" cy="2197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71644" y="464810"/>
            <a:ext cx="2600960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27965">
              <a:lnSpc>
                <a:spcPct val="100000"/>
              </a:lnSpc>
              <a:spcBef>
                <a:spcPts val="100"/>
              </a:spcBef>
            </a:pPr>
            <a:r>
              <a:rPr sz="8000" b="1" spc="-2045" dirty="0">
                <a:solidFill>
                  <a:srgbClr val="212121"/>
                </a:solidFill>
                <a:latin typeface="Trebuchet MS"/>
                <a:cs typeface="Trebuchet MS"/>
              </a:rPr>
              <a:t>N</a:t>
            </a:r>
            <a:r>
              <a:rPr sz="8000" b="1" cap="small" spc="-1620" dirty="0">
                <a:solidFill>
                  <a:srgbClr val="212121"/>
                </a:solidFill>
                <a:latin typeface="Trebuchet MS"/>
                <a:cs typeface="Trebuchet MS"/>
              </a:rPr>
              <a:t>o</a:t>
            </a:r>
            <a:r>
              <a:rPr sz="8000" b="1" spc="-2105" dirty="0">
                <a:solidFill>
                  <a:srgbClr val="212121"/>
                </a:solidFill>
                <a:latin typeface="Trebuchet MS"/>
                <a:cs typeface="Trebuchet MS"/>
              </a:rPr>
              <a:t>de</a:t>
            </a:r>
            <a:r>
              <a:rPr sz="8000" b="1" spc="-9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8000" b="1" spc="-1090" dirty="0">
                <a:solidFill>
                  <a:srgbClr val="212121"/>
                </a:solidFill>
                <a:latin typeface="Trebuchet MS"/>
                <a:cs typeface="Trebuchet MS"/>
              </a:rPr>
              <a:t>js </a:t>
            </a:r>
            <a:r>
              <a:rPr sz="8000" b="1" spc="-2205" dirty="0">
                <a:solidFill>
                  <a:srgbClr val="212121"/>
                </a:solidFill>
                <a:latin typeface="Trebuchet MS"/>
                <a:cs typeface="Trebuchet MS"/>
              </a:rPr>
              <a:t>Lec</a:t>
            </a:r>
            <a:r>
              <a:rPr sz="8000" b="1" cap="small" spc="-1870" dirty="0">
                <a:solidFill>
                  <a:srgbClr val="212121"/>
                </a:solidFill>
                <a:latin typeface="Trebuchet MS"/>
                <a:cs typeface="Trebuchet MS"/>
              </a:rPr>
              <a:t>t</a:t>
            </a:r>
            <a:r>
              <a:rPr sz="8000" b="1" spc="-2235" dirty="0">
                <a:solidFill>
                  <a:srgbClr val="212121"/>
                </a:solidFill>
                <a:latin typeface="Trebuchet MS"/>
                <a:cs typeface="Trebuchet MS"/>
              </a:rPr>
              <a:t>uRe</a:t>
            </a:r>
            <a:r>
              <a:rPr sz="8000" b="1" spc="-950" dirty="0">
                <a:solidFill>
                  <a:srgbClr val="212121"/>
                </a:solidFill>
                <a:latin typeface="Trebuchet MS"/>
                <a:cs typeface="Trebuchet MS"/>
              </a:rPr>
              <a:t> </a:t>
            </a:r>
            <a:r>
              <a:rPr sz="8000" b="1" spc="-1945" dirty="0">
                <a:solidFill>
                  <a:srgbClr val="212121"/>
                </a:solidFill>
                <a:latin typeface="Trebuchet MS"/>
                <a:cs typeface="Trebuchet MS"/>
              </a:rPr>
              <a:t>2</a:t>
            </a:r>
            <a:endParaRPr sz="8000">
              <a:latin typeface="Trebuchet MS"/>
              <a:cs typeface="Trebuchet M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4BF2C5-6537-1F87-5A53-D7CF7B6E3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7268"/>
            <a:ext cx="685800" cy="33754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CB4D7CE-EC84-83E7-93C8-8100A0ACA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D13EC1-5A08-CDBF-935C-7016855151C0}"/>
              </a:ext>
            </a:extLst>
          </p:cNvPr>
          <p:cNvSpPr txBox="1"/>
          <p:nvPr/>
        </p:nvSpPr>
        <p:spPr>
          <a:xfrm>
            <a:off x="3238190" y="3562350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60000"/>
              </a:lnSpc>
              <a:buNone/>
            </a:pPr>
            <a:r>
              <a:rPr lang="en-US" sz="1200" b="1" i="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National Telecommunication Institute</a:t>
            </a:r>
            <a:endParaRPr lang="en-US" sz="12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6B10DE-399C-AFE6-A95E-BDFF6ACD9E4E}"/>
              </a:ext>
            </a:extLst>
          </p:cNvPr>
          <p:cNvSpPr txBox="1"/>
          <p:nvPr/>
        </p:nvSpPr>
        <p:spPr>
          <a:xfrm>
            <a:off x="2819400" y="4019550"/>
            <a:ext cx="4572000" cy="3529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rtl="0">
              <a:lnSpc>
                <a:spcPct val="160000"/>
              </a:lnSpc>
              <a:buNone/>
            </a:pPr>
            <a:r>
              <a:rPr lang="en-US" sz="1200" b="0" i="0" dirty="0">
                <a:solidFill>
                  <a:srgbClr val="444444"/>
                </a:solidFill>
                <a:effectLst/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Ministry of Communications and Information Technology</a:t>
            </a:r>
            <a:endParaRPr lang="en-US" sz="1200" dirty="0">
              <a:effectLst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114808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90" dirty="0"/>
              <a:t>A</a:t>
            </a:r>
            <a:r>
              <a:rPr sz="4200" cap="small" spc="-800" dirty="0"/>
              <a:t>g</a:t>
            </a:r>
            <a:r>
              <a:rPr sz="4200" spc="-894" dirty="0"/>
              <a:t>end</a:t>
            </a:r>
            <a:r>
              <a:rPr sz="4200" cap="small" spc="-869" dirty="0"/>
              <a:t>a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75249" y="1233500"/>
            <a:ext cx="4781550" cy="2892425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1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custom</a:t>
            </a:r>
            <a:r>
              <a:rPr sz="1800" spc="-3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modules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NPM(node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modules</a:t>
            </a:r>
            <a:r>
              <a:rPr sz="1800" spc="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,</a:t>
            </a:r>
            <a:r>
              <a:rPr sz="1800" spc="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package.json)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HTTP</a:t>
            </a:r>
            <a:r>
              <a:rPr sz="18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Request &amp; Response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Express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What</a:t>
            </a:r>
            <a:r>
              <a:rPr sz="1800" spc="-1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is</a:t>
            </a:r>
            <a:r>
              <a:rPr sz="18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Restful</a:t>
            </a:r>
            <a:r>
              <a:rPr sz="1800" spc="-1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api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How to serve static files</a:t>
            </a:r>
            <a:endParaRPr sz="1800">
              <a:latin typeface="Courier New"/>
              <a:cs typeface="Courier New"/>
            </a:endParaRPr>
          </a:p>
          <a:p>
            <a:pPr marL="379095" indent="-367030">
              <a:lnSpc>
                <a:spcPct val="100000"/>
              </a:lnSpc>
              <a:spcBef>
                <a:spcPts val="1065"/>
              </a:spcBef>
              <a:buFont typeface="Microsoft Sans Serif"/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Node</a:t>
            </a:r>
            <a:r>
              <a:rPr sz="1800" spc="-20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js</a:t>
            </a:r>
            <a:r>
              <a:rPr sz="1800" spc="-15" dirty="0">
                <a:solidFill>
                  <a:srgbClr val="666666"/>
                </a:solidFill>
                <a:latin typeface="Courier New"/>
                <a:cs typeface="Courier New"/>
              </a:rPr>
              <a:t> </a:t>
            </a:r>
            <a:r>
              <a:rPr sz="1800" spc="-5" dirty="0">
                <a:solidFill>
                  <a:srgbClr val="666666"/>
                </a:solidFill>
                <a:latin typeface="Courier New"/>
                <a:cs typeface="Courier New"/>
              </a:rPr>
              <a:t>debugging</a:t>
            </a:r>
            <a:endParaRPr sz="1800">
              <a:latin typeface="Courier New"/>
              <a:cs typeface="Courier New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BF2C5-6537-1F87-5A53-D7CF7B6E3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81945A-2B61-1417-FAFD-1355E31AA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24923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965" dirty="0"/>
              <a:t>Cus</a:t>
            </a:r>
            <a:r>
              <a:rPr sz="4200" cap="small" spc="-910" dirty="0"/>
              <a:t>to</a:t>
            </a:r>
            <a:r>
              <a:rPr sz="4200" spc="-1255" dirty="0"/>
              <a:t>m</a:t>
            </a:r>
            <a:r>
              <a:rPr sz="4200" spc="-500" dirty="0"/>
              <a:t> </a:t>
            </a:r>
            <a:r>
              <a:rPr sz="4200" spc="-1230" dirty="0"/>
              <a:t>M</a:t>
            </a:r>
            <a:r>
              <a:rPr sz="4200" cap="small" spc="-844" dirty="0"/>
              <a:t>o</a:t>
            </a:r>
            <a:r>
              <a:rPr sz="4200" spc="-980" dirty="0"/>
              <a:t>du</a:t>
            </a:r>
            <a:r>
              <a:rPr sz="4200" cap="small" spc="-730" dirty="0"/>
              <a:t>l</a:t>
            </a:r>
            <a:r>
              <a:rPr sz="4200" spc="-1000" dirty="0"/>
              <a:t>es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533758" y="1012443"/>
            <a:ext cx="7494270" cy="2197100"/>
          </a:xfrm>
          <a:prstGeom prst="rect">
            <a:avLst/>
          </a:prstGeom>
        </p:spPr>
        <p:txBody>
          <a:bodyPr vert="horz" wrap="square" lIns="0" tIns="157480" rIns="0" bIns="0" rtlCol="0">
            <a:spAutoFit/>
          </a:bodyPr>
          <a:lstStyle/>
          <a:p>
            <a:pPr marL="386715" indent="-374650">
              <a:lnSpc>
                <a:spcPct val="100000"/>
              </a:lnSpc>
              <a:spcBef>
                <a:spcPts val="1240"/>
              </a:spcBef>
              <a:buFont typeface="Microsoft Sans Serif"/>
              <a:buChar char="●"/>
              <a:tabLst>
                <a:tab pos="386715" algn="l"/>
                <a:tab pos="387350" algn="l"/>
              </a:tabLst>
            </a:pPr>
            <a:r>
              <a:rPr sz="1900" spc="-5" dirty="0">
                <a:latin typeface="Courier New"/>
                <a:cs typeface="Courier New"/>
              </a:rPr>
              <a:t>How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it</a:t>
            </a:r>
            <a:r>
              <a:rPr sz="1900" spc="-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works</a:t>
            </a:r>
            <a:endParaRPr sz="1900">
              <a:latin typeface="Courier New"/>
              <a:cs typeface="Courier New"/>
            </a:endParaRPr>
          </a:p>
          <a:p>
            <a:pPr marL="386715" indent="-374650">
              <a:lnSpc>
                <a:spcPct val="100000"/>
              </a:lnSpc>
              <a:spcBef>
                <a:spcPts val="1140"/>
              </a:spcBef>
              <a:buFont typeface="Microsoft Sans Serif"/>
              <a:buChar char="●"/>
              <a:tabLst>
                <a:tab pos="386715" algn="l"/>
                <a:tab pos="387350" algn="l"/>
                <a:tab pos="6177915" algn="l"/>
              </a:tabLst>
            </a:pPr>
            <a:r>
              <a:rPr sz="1900" spc="-5" dirty="0">
                <a:latin typeface="Courier New"/>
                <a:cs typeface="Courier New"/>
              </a:rPr>
              <a:t>5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Global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Variables(require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,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module</a:t>
            </a:r>
            <a:r>
              <a:rPr sz="1900" spc="2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,</a:t>
            </a:r>
            <a:r>
              <a:rPr sz="1900" u="heavy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900" spc="-5" dirty="0">
                <a:latin typeface="Courier New"/>
                <a:cs typeface="Courier New"/>
              </a:rPr>
              <a:t>dirname</a:t>
            </a:r>
            <a:r>
              <a:rPr sz="1900" spc="-6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,</a:t>
            </a:r>
            <a:endParaRPr sz="1900">
              <a:latin typeface="Courier New"/>
              <a:cs typeface="Courier New"/>
            </a:endParaRPr>
          </a:p>
          <a:p>
            <a:pPr marL="386715">
              <a:lnSpc>
                <a:spcPct val="100000"/>
              </a:lnSpc>
              <a:spcBef>
                <a:spcPts val="1140"/>
              </a:spcBef>
              <a:tabLst>
                <a:tab pos="676275" algn="l"/>
              </a:tabLst>
            </a:pPr>
            <a:r>
              <a:rPr sz="19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sz="1900" spc="-5" dirty="0">
                <a:latin typeface="Courier New"/>
                <a:cs typeface="Courier New"/>
              </a:rPr>
              <a:t>filename</a:t>
            </a:r>
            <a:r>
              <a:rPr sz="1900" spc="-15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,</a:t>
            </a:r>
            <a:r>
              <a:rPr sz="1900" spc="-1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exports)</a:t>
            </a:r>
            <a:endParaRPr sz="1900">
              <a:latin typeface="Courier New"/>
              <a:cs typeface="Courier New"/>
            </a:endParaRPr>
          </a:p>
          <a:p>
            <a:pPr marL="386715" indent="-374650">
              <a:lnSpc>
                <a:spcPct val="100000"/>
              </a:lnSpc>
              <a:spcBef>
                <a:spcPts val="1140"/>
              </a:spcBef>
              <a:buFont typeface="Microsoft Sans Serif"/>
              <a:buChar char="●"/>
              <a:tabLst>
                <a:tab pos="386715" algn="l"/>
                <a:tab pos="387350" algn="l"/>
              </a:tabLst>
            </a:pPr>
            <a:r>
              <a:rPr sz="1900" spc="-5" dirty="0">
                <a:latin typeface="Courier New"/>
                <a:cs typeface="Courier New"/>
              </a:rPr>
              <a:t>Native</a:t>
            </a:r>
            <a:r>
              <a:rPr sz="1900" spc="-30" dirty="0">
                <a:latin typeface="Courier New"/>
                <a:cs typeface="Courier New"/>
              </a:rPr>
              <a:t> </a:t>
            </a:r>
            <a:r>
              <a:rPr sz="1900" spc="-5" dirty="0">
                <a:latin typeface="Courier New"/>
                <a:cs typeface="Courier New"/>
              </a:rPr>
              <a:t>Modules</a:t>
            </a:r>
            <a:endParaRPr sz="1900">
              <a:latin typeface="Courier New"/>
              <a:cs typeface="Courier New"/>
            </a:endParaRPr>
          </a:p>
          <a:p>
            <a:pPr marL="386715" indent="-374650">
              <a:lnSpc>
                <a:spcPct val="100000"/>
              </a:lnSpc>
              <a:spcBef>
                <a:spcPts val="1140"/>
              </a:spcBef>
              <a:buFont typeface="Microsoft Sans Serif"/>
              <a:buChar char="●"/>
              <a:tabLst>
                <a:tab pos="386715" algn="l"/>
                <a:tab pos="387350" algn="l"/>
              </a:tabLst>
            </a:pPr>
            <a:r>
              <a:rPr sz="1900" spc="-5" dirty="0">
                <a:latin typeface="Courier New"/>
                <a:cs typeface="Courier New"/>
              </a:rPr>
              <a:t>Caching</a:t>
            </a:r>
            <a:endParaRPr sz="1900">
              <a:latin typeface="Courier New"/>
              <a:cs typeface="Courier New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62050" y="2494225"/>
            <a:ext cx="5123374" cy="25616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0CCF6C-C16B-2A2A-3E7C-27D86F9AB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0899FF-2221-0B48-4AC1-7F86D63C3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6407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90" dirty="0"/>
              <a:t>NPM</a:t>
            </a:r>
            <a:endParaRPr sz="4200"/>
          </a:p>
        </p:txBody>
      </p:sp>
      <p:sp>
        <p:nvSpPr>
          <p:cNvPr id="3" name="object 3"/>
          <p:cNvSpPr txBox="1"/>
          <p:nvPr/>
        </p:nvSpPr>
        <p:spPr>
          <a:xfrm>
            <a:off x="450874" y="1146321"/>
            <a:ext cx="8368030" cy="102298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 marR="5080">
              <a:lnSpc>
                <a:spcPts val="1290"/>
              </a:lnSpc>
              <a:spcBef>
                <a:spcPts val="254"/>
              </a:spcBef>
            </a:pPr>
            <a:r>
              <a:rPr sz="1200" spc="-10" dirty="0">
                <a:latin typeface="Courier New"/>
                <a:cs typeface="Courier New"/>
              </a:rPr>
              <a:t>Every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Node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application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has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package.json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file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that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includes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metadata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about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the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application. </a:t>
            </a:r>
            <a:r>
              <a:rPr sz="1200" spc="-70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This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includes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the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name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of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the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application,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its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version,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dependencies,etc.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10"/>
              </a:spcBef>
            </a:pPr>
            <a:r>
              <a:rPr sz="1200" spc="-10" dirty="0">
                <a:latin typeface="Courier New"/>
                <a:cs typeface="Courier New"/>
              </a:rPr>
              <a:t>We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use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NPM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to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download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and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3rd-party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packages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from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NPM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registry.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10" dirty="0">
                <a:latin typeface="Courier New"/>
                <a:cs typeface="Courier New"/>
              </a:rPr>
              <a:t>-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All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the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installed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packages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and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their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dependencies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are</a:t>
            </a:r>
            <a:r>
              <a:rPr sz="1200" spc="1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stored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under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node_modules</a:t>
            </a:r>
            <a:r>
              <a:rPr sz="1200" spc="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folders.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63574" y="2322117"/>
            <a:ext cx="1825625" cy="16383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200" spc="-10" dirty="0">
                <a:latin typeface="Courier New"/>
                <a:cs typeface="Courier New"/>
              </a:rPr>
              <a:t>//</a:t>
            </a:r>
            <a:r>
              <a:rPr sz="1200" spc="-2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0874" y="2452084"/>
            <a:ext cx="1748789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Courier New"/>
                <a:cs typeface="Courier New"/>
              </a:rPr>
              <a:t>npm</a:t>
            </a:r>
            <a:r>
              <a:rPr sz="1200" spc="-3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</a:t>
            </a:r>
            <a:r>
              <a:rPr sz="1200" spc="-2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&lt;packageName&gt;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63574" y="2811779"/>
            <a:ext cx="3819525" cy="16383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200" spc="-10" dirty="0">
                <a:latin typeface="Courier New"/>
                <a:cs typeface="Courier New"/>
              </a:rPr>
              <a:t>//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specific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version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of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0874" y="2941746"/>
            <a:ext cx="265557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Courier New"/>
                <a:cs typeface="Courier New"/>
              </a:rPr>
              <a:t>npm i &lt;packageName&gt;@&lt;version&gt;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63574" y="3301440"/>
            <a:ext cx="4363720" cy="16383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200" spc="-10" dirty="0">
                <a:latin typeface="Courier New"/>
                <a:cs typeface="Courier New"/>
              </a:rPr>
              <a:t>//</a:t>
            </a:r>
            <a:r>
              <a:rPr sz="1200" spc="-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package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as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development</a:t>
            </a:r>
            <a:r>
              <a:rPr sz="120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dependency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50874" y="3431407"/>
            <a:ext cx="2655570" cy="2070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Courier New"/>
                <a:cs typeface="Courier New"/>
              </a:rPr>
              <a:t>npm i &lt;packageName&gt; —save-dev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3574" y="3791101"/>
            <a:ext cx="2007235" cy="163830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0"/>
              </a:lnSpc>
            </a:pPr>
            <a:r>
              <a:rPr sz="1200" spc="-10" dirty="0">
                <a:latin typeface="Courier New"/>
                <a:cs typeface="Courier New"/>
              </a:rPr>
              <a:t>//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Uninstall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a package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50874" y="3921068"/>
            <a:ext cx="2473960" cy="5334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00" spc="-10" dirty="0">
                <a:latin typeface="Courier New"/>
                <a:cs typeface="Courier New"/>
              </a:rPr>
              <a:t>npm</a:t>
            </a:r>
            <a:r>
              <a:rPr sz="1200" spc="-15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uninstall &lt;packageName&gt;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200" spc="-10" dirty="0">
                <a:latin typeface="Courier New"/>
                <a:cs typeface="Courier New"/>
              </a:rPr>
              <a:t>Npm</a:t>
            </a:r>
            <a:r>
              <a:rPr sz="1200" spc="-50" dirty="0">
                <a:latin typeface="Courier New"/>
                <a:cs typeface="Courier New"/>
              </a:rPr>
              <a:t> </a:t>
            </a:r>
            <a:r>
              <a:rPr sz="1200" spc="-10" dirty="0">
                <a:latin typeface="Courier New"/>
                <a:cs typeface="Courier New"/>
              </a:rPr>
              <a:t>install</a:t>
            </a:r>
            <a:endParaRPr sz="1200">
              <a:latin typeface="Courier New"/>
              <a:cs typeface="Courier New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1106EEC-5781-8572-6215-BE99FE32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4B77332-F9A2-2D18-57DD-2455925DF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19126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420" dirty="0"/>
              <a:t>HTTP</a:t>
            </a:r>
            <a:r>
              <a:rPr sz="4200" spc="-500" dirty="0"/>
              <a:t> </a:t>
            </a:r>
            <a:r>
              <a:rPr sz="4200" spc="-1230" dirty="0"/>
              <a:t>REQUEST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03675" y="1170049"/>
            <a:ext cx="6661738" cy="3744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658D36-4BCC-686A-BD3E-8504982815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999496-1B1A-B800-DD48-617E1E9332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44539"/>
            <a:ext cx="207327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420" dirty="0"/>
              <a:t>HTTP</a:t>
            </a:r>
            <a:r>
              <a:rPr sz="4200" spc="-500" dirty="0"/>
              <a:t> </a:t>
            </a:r>
            <a:r>
              <a:rPr sz="4200" spc="-1165" dirty="0"/>
              <a:t>RESPONSE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1170049"/>
            <a:ext cx="6661738" cy="374484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215524C-B170-147A-3759-3D76E3FAB8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19CF017-D7E2-0C1B-CD85-CE3E5C06D2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8339"/>
            <a:ext cx="139827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30" dirty="0"/>
              <a:t>ExpRess</a:t>
            </a:r>
            <a:r>
              <a:rPr sz="4200" spc="-500" dirty="0"/>
              <a:t> </a:t>
            </a:r>
            <a:r>
              <a:rPr sz="4200" spc="-944" dirty="0"/>
              <a:t>Js</a:t>
            </a:r>
            <a:endParaRPr sz="4200"/>
          </a:p>
        </p:txBody>
      </p:sp>
      <p:sp>
        <p:nvSpPr>
          <p:cNvPr id="3" name="object 3"/>
          <p:cNvSpPr/>
          <p:nvPr/>
        </p:nvSpPr>
        <p:spPr>
          <a:xfrm>
            <a:off x="463574" y="4369433"/>
            <a:ext cx="2247265" cy="180340"/>
          </a:xfrm>
          <a:custGeom>
            <a:avLst/>
            <a:gdLst/>
            <a:ahLst/>
            <a:cxnLst/>
            <a:rect l="l" t="t" r="r" b="b"/>
            <a:pathLst>
              <a:path w="2247265" h="180339">
                <a:moveTo>
                  <a:pt x="2246702" y="179832"/>
                </a:moveTo>
                <a:lnTo>
                  <a:pt x="0" y="179832"/>
                </a:lnTo>
                <a:lnTo>
                  <a:pt x="0" y="0"/>
                </a:lnTo>
                <a:lnTo>
                  <a:pt x="2246702" y="0"/>
                </a:lnTo>
                <a:lnTo>
                  <a:pt x="2246702" y="179832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50874" y="1069465"/>
            <a:ext cx="8378825" cy="36741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42400"/>
              </a:lnSpc>
              <a:spcBef>
                <a:spcPts val="95"/>
              </a:spcBef>
            </a:pPr>
            <a:r>
              <a:rPr sz="1450" spc="10" dirty="0">
                <a:latin typeface="Courier New"/>
                <a:cs typeface="Courier New"/>
              </a:rPr>
              <a:t>Express is a minimal and flexible Node.js web application framework that 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provides a robust set of features to develop web and mobile applications. 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It facilitates the rapid development of Node based Web applications. 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Following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are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some</a:t>
            </a:r>
            <a:r>
              <a:rPr sz="1450" spc="2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of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the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core</a:t>
            </a:r>
            <a:r>
              <a:rPr sz="1450" spc="2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features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of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Express</a:t>
            </a:r>
            <a:r>
              <a:rPr sz="1450" spc="2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framework</a:t>
            </a:r>
            <a:r>
              <a:rPr sz="1450" spc="1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−</a:t>
            </a:r>
            <a:endParaRPr sz="1450">
              <a:latin typeface="Courier New"/>
              <a:cs typeface="Courier New"/>
            </a:endParaRPr>
          </a:p>
          <a:p>
            <a:pPr marL="901700" indent="-342265">
              <a:lnSpc>
                <a:spcPct val="100000"/>
              </a:lnSpc>
              <a:spcBef>
                <a:spcPts val="1435"/>
              </a:spcBef>
              <a:buFont typeface="Microsoft Sans Serif"/>
              <a:buChar char="●"/>
              <a:tabLst>
                <a:tab pos="901065" algn="l"/>
                <a:tab pos="901700" algn="l"/>
              </a:tabLst>
            </a:pPr>
            <a:r>
              <a:rPr sz="1450" spc="10" dirty="0">
                <a:latin typeface="Courier New"/>
                <a:cs typeface="Courier New"/>
              </a:rPr>
              <a:t>Allows</a:t>
            </a:r>
            <a:r>
              <a:rPr sz="1450" spc="2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set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up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middlewares</a:t>
            </a:r>
            <a:r>
              <a:rPr sz="1450" spc="2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respond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HTTP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Requests.</a:t>
            </a:r>
            <a:endParaRPr sz="1450">
              <a:latin typeface="Courier New"/>
              <a:cs typeface="Courier New"/>
            </a:endParaRPr>
          </a:p>
          <a:p>
            <a:pPr marL="901700" marR="50800" indent="-342265">
              <a:lnSpc>
                <a:spcPct val="132200"/>
              </a:lnSpc>
              <a:buFont typeface="Microsoft Sans Serif"/>
              <a:buChar char="●"/>
              <a:tabLst>
                <a:tab pos="901065" algn="l"/>
                <a:tab pos="901700" algn="l"/>
              </a:tabLst>
            </a:pPr>
            <a:r>
              <a:rPr sz="1450" spc="10" dirty="0">
                <a:latin typeface="Courier New"/>
                <a:cs typeface="Courier New"/>
              </a:rPr>
              <a:t>Defines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a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routing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table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which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is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used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perform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different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actions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based on HTTP Method and URL.</a:t>
            </a:r>
            <a:endParaRPr sz="1450">
              <a:latin typeface="Courier New"/>
              <a:cs typeface="Courier New"/>
            </a:endParaRPr>
          </a:p>
          <a:p>
            <a:pPr marL="901700" marR="50800" indent="-342265">
              <a:lnSpc>
                <a:spcPct val="132200"/>
              </a:lnSpc>
              <a:spcBef>
                <a:spcPts val="5"/>
              </a:spcBef>
              <a:buFont typeface="Microsoft Sans Serif"/>
              <a:buChar char="●"/>
              <a:tabLst>
                <a:tab pos="901065" algn="l"/>
                <a:tab pos="901700" algn="l"/>
              </a:tabLst>
            </a:pPr>
            <a:r>
              <a:rPr sz="1450" spc="10" dirty="0">
                <a:latin typeface="Courier New"/>
                <a:cs typeface="Courier New"/>
              </a:rPr>
              <a:t>Allows</a:t>
            </a:r>
            <a:r>
              <a:rPr sz="1450" spc="2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dynamically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render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HTML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Pages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based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on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passing</a:t>
            </a:r>
            <a:r>
              <a:rPr sz="1450" spc="3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arguments </a:t>
            </a:r>
            <a:r>
              <a:rPr sz="1450" spc="-85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to</a:t>
            </a:r>
            <a:r>
              <a:rPr sz="1450" spc="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templates</a:t>
            </a:r>
            <a:endParaRPr sz="14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800">
              <a:latin typeface="Courier New"/>
              <a:cs typeface="Courier New"/>
            </a:endParaRPr>
          </a:p>
          <a:p>
            <a:pPr marL="12700" marR="6109970">
              <a:lnSpc>
                <a:spcPts val="1420"/>
              </a:lnSpc>
              <a:spcBef>
                <a:spcPts val="1550"/>
              </a:spcBef>
            </a:pPr>
            <a:r>
              <a:rPr sz="1450" spc="10" dirty="0">
                <a:latin typeface="Courier New"/>
                <a:cs typeface="Courier New"/>
              </a:rPr>
              <a:t>// Install a package </a:t>
            </a:r>
            <a:r>
              <a:rPr sz="1450" spc="-86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npm</a:t>
            </a:r>
            <a:r>
              <a:rPr sz="1450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i</a:t>
            </a:r>
            <a:r>
              <a:rPr sz="1450" spc="5" dirty="0">
                <a:latin typeface="Courier New"/>
                <a:cs typeface="Courier New"/>
              </a:rPr>
              <a:t> </a:t>
            </a:r>
            <a:r>
              <a:rPr sz="1450" spc="10" dirty="0">
                <a:latin typeface="Courier New"/>
                <a:cs typeface="Courier New"/>
              </a:rPr>
              <a:t>express</a:t>
            </a:r>
            <a:endParaRPr sz="1450">
              <a:latin typeface="Courier New"/>
              <a:cs typeface="Courier New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D0C957-EE62-EBF8-49D2-A7E2DC9EE4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E6C2C6B-ABCC-1091-9300-501799751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68339"/>
            <a:ext cx="16421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115" dirty="0"/>
              <a:t>Res</a:t>
            </a:r>
            <a:r>
              <a:rPr sz="4200" cap="small" spc="-975" dirty="0"/>
              <a:t>t</a:t>
            </a:r>
            <a:r>
              <a:rPr sz="4200" spc="-745" dirty="0"/>
              <a:t>fu</a:t>
            </a:r>
            <a:r>
              <a:rPr sz="4200" cap="small" spc="-730" dirty="0"/>
              <a:t>l</a:t>
            </a:r>
            <a:r>
              <a:rPr sz="4200" spc="-500" dirty="0"/>
              <a:t> </a:t>
            </a:r>
            <a:r>
              <a:rPr sz="4200" spc="-844" dirty="0"/>
              <a:t>API</a:t>
            </a:r>
            <a:endParaRPr sz="42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874" y="1196571"/>
            <a:ext cx="4747324" cy="358115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E3ECAC5-037F-BF9F-F8C6-8B3C087C6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5D944B-C0A7-06AC-2845-BAC82FFBD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3429000"/>
            <a:ext cx="9144000" cy="1714500"/>
          </a:xfrm>
          <a:custGeom>
            <a:avLst/>
            <a:gdLst/>
            <a:ahLst/>
            <a:cxnLst/>
            <a:rect l="l" t="t" r="r" b="b"/>
            <a:pathLst>
              <a:path w="9144000" h="1714500">
                <a:moveTo>
                  <a:pt x="0" y="1714499"/>
                </a:moveTo>
                <a:lnTo>
                  <a:pt x="9143999" y="1714499"/>
                </a:lnTo>
                <a:lnTo>
                  <a:pt x="9143999" y="0"/>
                </a:lnTo>
                <a:lnTo>
                  <a:pt x="0" y="0"/>
                </a:lnTo>
                <a:lnTo>
                  <a:pt x="0" y="1714499"/>
                </a:lnTo>
                <a:close/>
              </a:path>
            </a:pathLst>
          </a:custGeom>
          <a:solidFill>
            <a:srgbClr val="9FC5E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3429000"/>
          </a:xfrm>
          <a:custGeom>
            <a:avLst/>
            <a:gdLst/>
            <a:ahLst/>
            <a:cxnLst/>
            <a:rect l="l" t="t" r="r" b="b"/>
            <a:pathLst>
              <a:path w="9144000" h="3429000">
                <a:moveTo>
                  <a:pt x="9143999" y="3428999"/>
                </a:moveTo>
                <a:lnTo>
                  <a:pt x="0" y="34289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342899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00" dirty="0"/>
              <a:t>T</a:t>
            </a:r>
            <a:r>
              <a:rPr cap="small" spc="-1695" dirty="0"/>
              <a:t>ha</a:t>
            </a:r>
            <a:r>
              <a:rPr spc="-1240" dirty="0"/>
              <a:t>nk</a:t>
            </a:r>
            <a:r>
              <a:rPr spc="-950" dirty="0"/>
              <a:t> </a:t>
            </a:r>
            <a:r>
              <a:rPr spc="-2010" dirty="0"/>
              <a:t>y</a:t>
            </a:r>
            <a:r>
              <a:rPr cap="small" spc="-1620" dirty="0"/>
              <a:t>o</a:t>
            </a:r>
            <a:r>
              <a:rPr spc="-1839" dirty="0"/>
              <a:t>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4B16CD-580A-8077-0764-7DCA0B8335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5" y="121058"/>
            <a:ext cx="685800" cy="3375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2A268C-475B-6CF5-7D4D-325EE6F76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109628"/>
            <a:ext cx="1019175" cy="4857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284</Words>
  <Application>Microsoft Office PowerPoint</Application>
  <PresentationFormat>On-screen Show (16:9)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Courier New</vt:lpstr>
      <vt:lpstr>Lato</vt:lpstr>
      <vt:lpstr>Microsoft Sans Serif</vt:lpstr>
      <vt:lpstr>Times New Roman</vt:lpstr>
      <vt:lpstr>Trebuchet MS</vt:lpstr>
      <vt:lpstr>Office Theme</vt:lpstr>
      <vt:lpstr>PowerPoint Presentation</vt:lpstr>
      <vt:lpstr>Agenda</vt:lpstr>
      <vt:lpstr>Custom Modules</vt:lpstr>
      <vt:lpstr>NPM</vt:lpstr>
      <vt:lpstr>HTTP REQUEST</vt:lpstr>
      <vt:lpstr>HTTP RESPONSE</vt:lpstr>
      <vt:lpstr>ExpRess Js</vt:lpstr>
      <vt:lpstr>Restful API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 Lecture 2-</dc:title>
  <dc:creator>heba ali</dc:creator>
  <cp:lastModifiedBy>Ahmad Mohamd Foaad</cp:lastModifiedBy>
  <cp:revision>2</cp:revision>
  <dcterms:created xsi:type="dcterms:W3CDTF">2024-11-18T11:58:59Z</dcterms:created>
  <dcterms:modified xsi:type="dcterms:W3CDTF">2026-06-27T20:23:53Z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