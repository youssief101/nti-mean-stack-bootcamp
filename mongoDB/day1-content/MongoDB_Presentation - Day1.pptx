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76" r:id="rId13"/>
    <p:sldId id="277" r:id="rId14"/>
  </p:sldIdLst>
  <p:sldSz cx="12192000" cy="6858000"/>
  <p:notesSz cx="6858000" cy="9144000"/>
  <p:embeddedFontLst>
    <p:embeddedFont>
      <p:font typeface="Lato" panose="020F0502020204030203" pitchFamily="34" charset="0"/>
      <p:regular r:id="rId16"/>
      <p:bold r:id="rId17"/>
      <p:italic r:id="rId18"/>
      <p:boldItalic r:id="rId19"/>
    </p:embeddedFont>
    <p:embeddedFont>
      <p:font typeface="Lato Light" panose="020F0502020204030203" pitchFamily="34" charset="0"/>
      <p:regular r:id="rId20"/>
      <p:bold r:id="rId21"/>
      <p:italic r:id="rId22"/>
      <p:boldItalic r:id="rId23"/>
    </p:embeddedFont>
    <p:embeddedFont>
      <p:font typeface="Poppins" panose="00000500000000000000" pitchFamily="2" charset="0"/>
      <p:regular r:id="rId24"/>
      <p:bold r:id="rId25"/>
      <p:italic r:id="rId26"/>
      <p:boldItalic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1BEC7A6-C31C-49CD-B75C-7B8EC719DAA8}">
  <a:tblStyle styleId="{21BEC7A6-C31C-49CD-B75C-7B8EC719DAA8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font" Target="fonts/font11.fntdata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font" Target="fonts/font12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" name="Google Shape;21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0" name="Google Shape;24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2" name="Google Shape;422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2" name="Google Shape;462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3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11" Type="http://schemas.openxmlformats.org/officeDocument/2006/relationships/image" Target="../media/image2.png"/><Relationship Id="rId5" Type="http://schemas.openxmlformats.org/officeDocument/2006/relationships/image" Target="../media/image11.png"/><Relationship Id="rId10" Type="http://schemas.openxmlformats.org/officeDocument/2006/relationships/image" Target="../media/image3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9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.png"/><Relationship Id="rId7" Type="http://schemas.openxmlformats.org/officeDocument/2006/relationships/image" Target="../media/image23.png"/><Relationship Id="rId12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11" Type="http://schemas.openxmlformats.org/officeDocument/2006/relationships/image" Target="../media/image2.png"/><Relationship Id="rId5" Type="http://schemas.openxmlformats.org/officeDocument/2006/relationships/image" Target="../media/image21.png"/><Relationship Id="rId10" Type="http://schemas.openxmlformats.org/officeDocument/2006/relationships/image" Target="../media/image26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1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11" Type="http://schemas.openxmlformats.org/officeDocument/2006/relationships/image" Target="../media/image2.png"/><Relationship Id="rId5" Type="http://schemas.openxmlformats.org/officeDocument/2006/relationships/image" Target="../media/image28.png"/><Relationship Id="rId10" Type="http://schemas.openxmlformats.org/officeDocument/2006/relationships/image" Target="../media/image3.png"/><Relationship Id="rId4" Type="http://schemas.openxmlformats.org/officeDocument/2006/relationships/image" Target="../media/image27.png"/><Relationship Id="rId9" Type="http://schemas.openxmlformats.org/officeDocument/2006/relationships/image" Target="../media/image32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1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11" Type="http://schemas.openxmlformats.org/officeDocument/2006/relationships/image" Target="../media/image3.png"/><Relationship Id="rId5" Type="http://schemas.openxmlformats.org/officeDocument/2006/relationships/image" Target="../media/image34.png"/><Relationship Id="rId10" Type="http://schemas.openxmlformats.org/officeDocument/2006/relationships/image" Target="../media/image2.png"/><Relationship Id="rId4" Type="http://schemas.openxmlformats.org/officeDocument/2006/relationships/image" Target="../media/image33.png"/><Relationship Id="rId9" Type="http://schemas.openxmlformats.org/officeDocument/2006/relationships/image" Target="../media/image38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582629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653743" y="1619019"/>
            <a:ext cx="3105284" cy="15758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 dirty="0">
                <a:solidFill>
                  <a:srgbClr val="003366"/>
                </a:solidFill>
                <a:latin typeface="Lato"/>
                <a:ea typeface="Lato"/>
                <a:cs typeface="Lato"/>
                <a:sym typeface="Lato"/>
              </a:rPr>
              <a:t>SUMMER TRAINING</a:t>
            </a:r>
            <a:endParaRPr sz="3200" dirty="0"/>
          </a:p>
        </p:txBody>
      </p:sp>
      <p:sp>
        <p:nvSpPr>
          <p:cNvPr id="87" name="Google Shape;87;p13"/>
          <p:cNvSpPr txBox="1"/>
          <p:nvPr/>
        </p:nvSpPr>
        <p:spPr>
          <a:xfrm>
            <a:off x="4825900" y="3413819"/>
            <a:ext cx="6794599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05EAA"/>
                </a:solidFill>
                <a:latin typeface="Lato Light"/>
                <a:ea typeface="Lato Light"/>
                <a:cs typeface="Lato Light"/>
                <a:sym typeface="Lato Light"/>
              </a:rPr>
              <a:t>Modern Data Management for Developers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4825900" y="4377630"/>
            <a:ext cx="6794599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National Telecommunication Institute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4825900" y="4796730"/>
            <a:ext cx="6794599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Ministry of Communications and Information Technology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4825900" y="1642169"/>
            <a:ext cx="7134329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 dirty="0">
                <a:solidFill>
                  <a:srgbClr val="111111"/>
                </a:solidFill>
                <a:latin typeface="Poppins"/>
                <a:ea typeface="Poppins"/>
                <a:cs typeface="Poppins"/>
                <a:sym typeface="Poppins"/>
              </a:rPr>
              <a:t>MongoDB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29F0752-8CD2-7C09-DF0A-01E95D1771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6813" y="-485775"/>
            <a:ext cx="1219200" cy="6000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F7C6C04-5295-9B74-6888-38CC67722BF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66334" y="-485775"/>
            <a:ext cx="1019175" cy="48577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29496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966912"/>
            <a:ext cx="5286375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1966912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4"/>
          <p:cNvSpPr txBox="1"/>
          <p:nvPr/>
        </p:nvSpPr>
        <p:spPr>
          <a:xfrm>
            <a:off x="571500" y="2500312"/>
            <a:ext cx="5286375" cy="396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01.</a:t>
            </a:r>
            <a:r>
              <a:rPr lang="en-US" sz="1950" b="0" i="0" u="none" strike="noStrike" cap="non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 Introduction to NoSQL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571500" y="3086992"/>
            <a:ext cx="5286375" cy="396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02.</a:t>
            </a:r>
            <a:r>
              <a:rPr lang="en-US" sz="1950" b="0" i="0" u="none" strike="noStrike" cap="non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 Getting Started with MongoDB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571500" y="4292348"/>
            <a:ext cx="5286375" cy="4801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 dirty="0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04.</a:t>
            </a:r>
            <a:r>
              <a:rPr lang="en-US" sz="1950" b="0" i="0" u="none" strike="noStrike" cap="none" dirty="0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 CRUD Operations</a:t>
            </a:r>
            <a:endParaRPr dirty="0"/>
          </a:p>
        </p:txBody>
      </p:sp>
      <p:sp>
        <p:nvSpPr>
          <p:cNvPr id="101" name="Google Shape;101;p14"/>
          <p:cNvSpPr txBox="1"/>
          <p:nvPr/>
        </p:nvSpPr>
        <p:spPr>
          <a:xfrm>
            <a:off x="571500" y="3705668"/>
            <a:ext cx="5286375" cy="4801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 dirty="0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03.</a:t>
            </a:r>
            <a:r>
              <a:rPr lang="en-US" sz="1950" b="0" i="0" u="none" strike="noStrike" cap="none" dirty="0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 Download &amp; Setup MongoDB Server &amp; Shell</a:t>
            </a:r>
            <a:endParaRPr dirty="0"/>
          </a:p>
        </p:txBody>
      </p:sp>
      <p:sp>
        <p:nvSpPr>
          <p:cNvPr id="103" name="Google Shape;103;p14"/>
          <p:cNvSpPr txBox="1"/>
          <p:nvPr/>
        </p:nvSpPr>
        <p:spPr>
          <a:xfrm>
            <a:off x="395287" y="1207984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COURSE ROADMAP</a:t>
            </a:r>
            <a:endParaRPr dirty="0"/>
          </a:p>
        </p:txBody>
      </p:sp>
      <p:sp>
        <p:nvSpPr>
          <p:cNvPr id="104" name="Google Shape;104;p14"/>
          <p:cNvSpPr/>
          <p:nvPr/>
        </p:nvSpPr>
        <p:spPr>
          <a:xfrm>
            <a:off x="239431" y="1207983"/>
            <a:ext cx="75201" cy="375011"/>
          </a:xfrm>
          <a:prstGeom prst="rect">
            <a:avLst/>
          </a:prstGeom>
          <a:solidFill>
            <a:srgbClr val="005EA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6ECDD69-F9F2-D93A-7A14-7BFB62F0DA4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74556" y="204788"/>
            <a:ext cx="1022709" cy="49527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4623B35-7F75-196C-F96E-0241AA5D05D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2969" y="61912"/>
            <a:ext cx="1213195" cy="60007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39328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5"/>
          <p:cNvSpPr/>
          <p:nvPr/>
        </p:nvSpPr>
        <p:spPr>
          <a:xfrm>
            <a:off x="5619750" y="2527994"/>
            <a:ext cx="952500" cy="57150"/>
          </a:xfrm>
          <a:prstGeom prst="rect">
            <a:avLst/>
          </a:prstGeom>
          <a:solidFill>
            <a:srgbClr val="005EA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5"/>
          <p:cNvSpPr txBox="1"/>
          <p:nvPr/>
        </p:nvSpPr>
        <p:spPr>
          <a:xfrm>
            <a:off x="3905250" y="3804344"/>
            <a:ext cx="4381500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444444"/>
                </a:solidFill>
                <a:latin typeface="Lato Light"/>
                <a:ea typeface="Lato Light"/>
                <a:cs typeface="Lato Light"/>
                <a:sym typeface="Lato Light"/>
              </a:rPr>
              <a:t>Introduction to NoSQL Databases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3795712" y="2775644"/>
            <a:ext cx="4600575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Section 01</a:t>
            </a:r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7621E30-7F39-FDC6-8B3E-AC9E1564F6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3304" y="186044"/>
            <a:ext cx="1213195" cy="60007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5886897-C847-AD11-E89D-ECE633F6CDE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00863" y="176212"/>
            <a:ext cx="1019175" cy="48577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602235"/>
            <a:ext cx="5381625" cy="2028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38875" y="3602235"/>
            <a:ext cx="5381625" cy="2028825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6"/>
          <p:cNvSpPr txBox="1"/>
          <p:nvPr/>
        </p:nvSpPr>
        <p:spPr>
          <a:xfrm>
            <a:off x="571500" y="2112615"/>
            <a:ext cx="110490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5EAA"/>
                </a:solidFill>
                <a:latin typeface="Lato"/>
                <a:ea typeface="Lato"/>
                <a:cs typeface="Lato"/>
                <a:sym typeface="Lato"/>
              </a:rPr>
              <a:t>"Not Only SQL"</a:t>
            </a:r>
            <a:endParaRPr/>
          </a:p>
        </p:txBody>
      </p:sp>
      <p:sp>
        <p:nvSpPr>
          <p:cNvPr id="121" name="Google Shape;121;p16"/>
          <p:cNvSpPr txBox="1"/>
          <p:nvPr/>
        </p:nvSpPr>
        <p:spPr>
          <a:xfrm>
            <a:off x="571500" y="2592585"/>
            <a:ext cx="11049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NoSQL databases are non-relational systems designed to handle vast amounts of data, high user loads, and frequent data structure changes.</a:t>
            </a:r>
            <a:endParaRPr dirty="0"/>
          </a:p>
        </p:txBody>
      </p:sp>
      <p:sp>
        <p:nvSpPr>
          <p:cNvPr id="122" name="Google Shape;122;p16"/>
          <p:cNvSpPr txBox="1"/>
          <p:nvPr/>
        </p:nvSpPr>
        <p:spPr>
          <a:xfrm>
            <a:off x="857250" y="4316610"/>
            <a:ext cx="481012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Unlike relational tables, NoSQL allows storing data without a predefined, rigid structure. Perfect for evolving applications.</a:t>
            </a:r>
            <a:endParaRPr/>
          </a:p>
        </p:txBody>
      </p:sp>
      <p:sp>
        <p:nvSpPr>
          <p:cNvPr id="123" name="Google Shape;123;p16"/>
          <p:cNvSpPr txBox="1"/>
          <p:nvPr/>
        </p:nvSpPr>
        <p:spPr>
          <a:xfrm>
            <a:off x="6524625" y="4316610"/>
            <a:ext cx="48101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Instead of buying bigger servers (Scale-Up), we just add more cheap servers to the cluster (Scale-Out).</a:t>
            </a:r>
            <a:endParaRPr/>
          </a:p>
        </p:txBody>
      </p:sp>
      <p:sp>
        <p:nvSpPr>
          <p:cNvPr id="124" name="Google Shape;124;p16"/>
          <p:cNvSpPr txBox="1"/>
          <p:nvPr/>
        </p:nvSpPr>
        <p:spPr>
          <a:xfrm>
            <a:off x="719137" y="1012478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WHAT IS NOSQL?</a:t>
            </a:r>
            <a:endParaRPr dirty="0"/>
          </a:p>
        </p:txBody>
      </p:sp>
      <p:sp>
        <p:nvSpPr>
          <p:cNvPr id="125" name="Google Shape;125;p16"/>
          <p:cNvSpPr/>
          <p:nvPr/>
        </p:nvSpPr>
        <p:spPr>
          <a:xfrm>
            <a:off x="533400" y="1012478"/>
            <a:ext cx="76200" cy="600075"/>
          </a:xfrm>
          <a:prstGeom prst="rect">
            <a:avLst/>
          </a:prstGeom>
          <a:solidFill>
            <a:srgbClr val="005EA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6"/>
          <p:cNvSpPr txBox="1"/>
          <p:nvPr/>
        </p:nvSpPr>
        <p:spPr>
          <a:xfrm>
            <a:off x="857250" y="3887985"/>
            <a:ext cx="5050631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Schema-Free Design</a:t>
            </a:r>
            <a:endParaRPr/>
          </a:p>
        </p:txBody>
      </p:sp>
      <p:sp>
        <p:nvSpPr>
          <p:cNvPr id="127" name="Google Shape;127;p16"/>
          <p:cNvSpPr txBox="1"/>
          <p:nvPr/>
        </p:nvSpPr>
        <p:spPr>
          <a:xfrm>
            <a:off x="6524625" y="3887985"/>
            <a:ext cx="5050631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Horizontal Scalability</a:t>
            </a:r>
            <a:endParaRPr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3321E16-2D76-1958-187B-971317ED696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25162" y="156195"/>
            <a:ext cx="1019175" cy="4857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D20B26B-9E2A-FC79-9D5F-ECEC8472F83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7650" y="156195"/>
            <a:ext cx="1219200" cy="6000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264635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2483346"/>
            <a:ext cx="5286375" cy="2777132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7"/>
          <p:cNvSpPr txBox="1"/>
          <p:nvPr/>
        </p:nvSpPr>
        <p:spPr>
          <a:xfrm>
            <a:off x="571500" y="4016871"/>
            <a:ext cx="52863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1" u="none" strike="noStrike" cap="none" dirty="0">
                <a:solidFill>
                  <a:srgbClr val="666666"/>
                </a:solidFill>
                <a:latin typeface="Lato"/>
                <a:ea typeface="Lato"/>
                <a:cs typeface="Lato"/>
                <a:sym typeface="Lato"/>
              </a:rPr>
              <a:t>Instructor Note: Real-world apps like Netflix and Uber rely on NoSQL for speed and scalability.</a:t>
            </a:r>
            <a:endParaRPr dirty="0"/>
          </a:p>
        </p:txBody>
      </p:sp>
      <p:sp>
        <p:nvSpPr>
          <p:cNvPr id="135" name="Google Shape;135;p17"/>
          <p:cNvSpPr txBox="1"/>
          <p:nvPr/>
        </p:nvSpPr>
        <p:spPr>
          <a:xfrm>
            <a:off x="6629400" y="2778621"/>
            <a:ext cx="46958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Example: Social Media Profile</a:t>
            </a:r>
            <a:endParaRPr/>
          </a:p>
        </p:txBody>
      </p:sp>
      <p:sp>
        <p:nvSpPr>
          <p:cNvPr id="136" name="Google Shape;136;p17"/>
          <p:cNvSpPr/>
          <p:nvPr/>
        </p:nvSpPr>
        <p:spPr>
          <a:xfrm>
            <a:off x="6629400" y="3197721"/>
            <a:ext cx="4695825" cy="1653182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7"/>
          <p:cNvSpPr txBox="1"/>
          <p:nvPr/>
        </p:nvSpPr>
        <p:spPr>
          <a:xfrm>
            <a:off x="6724650" y="3292971"/>
            <a:ext cx="4505325" cy="14626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0" i="0" u="none" strike="noStrike" cap="non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   "name": "Ahmed",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0" i="0" u="none" strike="noStrike" cap="non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   "bio": "Developer...",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0" i="0" u="none" strike="noStrike" cap="non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   "skills": ["Java", "MongoDB"],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0" i="0" u="none" strike="noStrike" cap="non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   "metadata": { "last_login": "2023-10-01" }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0" i="0" u="none" strike="noStrike" cap="non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 }</a:t>
            </a:r>
            <a:endParaRPr/>
          </a:p>
        </p:txBody>
      </p:sp>
      <p:sp>
        <p:nvSpPr>
          <p:cNvPr id="138" name="Google Shape;138;p17"/>
          <p:cNvSpPr txBox="1"/>
          <p:nvPr/>
        </p:nvSpPr>
        <p:spPr>
          <a:xfrm>
            <a:off x="647700" y="2911971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39" name="Google Shape;139;p17"/>
          <p:cNvSpPr txBox="1"/>
          <p:nvPr/>
        </p:nvSpPr>
        <p:spPr>
          <a:xfrm>
            <a:off x="762000" y="2911971"/>
            <a:ext cx="50958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Semi-Structured:</a:t>
            </a:r>
            <a:r>
              <a:rPr lang="en-US" sz="1500" b="0" i="0" u="none" strike="noStrike" cap="non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 Data with metadata (JSON, XML).</a:t>
            </a:r>
            <a:endParaRPr/>
          </a:p>
        </p:txBody>
      </p:sp>
      <p:sp>
        <p:nvSpPr>
          <p:cNvPr id="140" name="Google Shape;140;p17"/>
          <p:cNvSpPr txBox="1"/>
          <p:nvPr/>
        </p:nvSpPr>
        <p:spPr>
          <a:xfrm>
            <a:off x="647700" y="3216771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41" name="Google Shape;141;p17"/>
          <p:cNvSpPr txBox="1"/>
          <p:nvPr/>
        </p:nvSpPr>
        <p:spPr>
          <a:xfrm>
            <a:off x="762000" y="3216771"/>
            <a:ext cx="50958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Unstructured:</a:t>
            </a:r>
            <a:r>
              <a:rPr lang="en-US" sz="1500" b="0" i="0" u="none" strike="noStrike" cap="non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 Media files, logs, social feeds.</a:t>
            </a:r>
            <a:endParaRPr/>
          </a:p>
        </p:txBody>
      </p:sp>
      <p:sp>
        <p:nvSpPr>
          <p:cNvPr id="142" name="Google Shape;142;p17"/>
          <p:cNvSpPr txBox="1"/>
          <p:nvPr/>
        </p:nvSpPr>
        <p:spPr>
          <a:xfrm>
            <a:off x="647700" y="3521571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43" name="Google Shape;143;p17"/>
          <p:cNvSpPr txBox="1"/>
          <p:nvPr/>
        </p:nvSpPr>
        <p:spPr>
          <a:xfrm>
            <a:off x="762000" y="3521571"/>
            <a:ext cx="50958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Real-Time:</a:t>
            </a:r>
            <a:r>
              <a:rPr lang="en-US" sz="1500" b="0" i="0" u="none" strike="noStrike" cap="non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 Instant data processing for apps.</a:t>
            </a:r>
            <a:endParaRPr/>
          </a:p>
        </p:txBody>
      </p:sp>
      <p:sp>
        <p:nvSpPr>
          <p:cNvPr id="144" name="Google Shape;144;p17"/>
          <p:cNvSpPr txBox="1"/>
          <p:nvPr/>
        </p:nvSpPr>
        <p:spPr>
          <a:xfrm>
            <a:off x="790575" y="966192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WHY USE NOSQL?</a:t>
            </a:r>
            <a:endParaRPr dirty="0"/>
          </a:p>
        </p:txBody>
      </p:sp>
      <p:sp>
        <p:nvSpPr>
          <p:cNvPr id="145" name="Google Shape;145;p17"/>
          <p:cNvSpPr/>
          <p:nvPr/>
        </p:nvSpPr>
        <p:spPr>
          <a:xfrm>
            <a:off x="571500" y="966192"/>
            <a:ext cx="76200" cy="600075"/>
          </a:xfrm>
          <a:prstGeom prst="rect">
            <a:avLst/>
          </a:prstGeom>
          <a:solidFill>
            <a:srgbClr val="005EA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7"/>
          <p:cNvSpPr txBox="1"/>
          <p:nvPr/>
        </p:nvSpPr>
        <p:spPr>
          <a:xfrm>
            <a:off x="571500" y="2483346"/>
            <a:ext cx="5550693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Handling Modern Data</a:t>
            </a: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8FBF136-6852-FD24-5B64-CC61FD45037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0975" y="118467"/>
            <a:ext cx="1219200" cy="60007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7FA5743-EB44-0E84-7E37-C385320217D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91850" y="209809"/>
            <a:ext cx="1019175" cy="48577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Google Shape;151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832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495550"/>
            <a:ext cx="3492549" cy="2752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2495550"/>
            <a:ext cx="3492549" cy="2752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2495550"/>
            <a:ext cx="3492549" cy="2752725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8"/>
          <p:cNvSpPr txBox="1"/>
          <p:nvPr/>
        </p:nvSpPr>
        <p:spPr>
          <a:xfrm>
            <a:off x="857250" y="3819525"/>
            <a:ext cx="2921049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Simple pairs. High speed for caching.</a:t>
            </a:r>
            <a:endParaRPr/>
          </a:p>
        </p:txBody>
      </p:sp>
      <p:sp>
        <p:nvSpPr>
          <p:cNvPr id="156" name="Google Shape;156;p18"/>
          <p:cNvSpPr txBox="1"/>
          <p:nvPr/>
        </p:nvSpPr>
        <p:spPr>
          <a:xfrm>
            <a:off x="857250" y="4543425"/>
            <a:ext cx="2921049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5EAA"/>
                </a:solidFill>
                <a:latin typeface="Lato"/>
                <a:ea typeface="Lato"/>
                <a:cs typeface="Lato"/>
                <a:sym typeface="Lato"/>
              </a:rPr>
              <a:t>Redis</a:t>
            </a:r>
            <a:endParaRPr/>
          </a:p>
        </p:txBody>
      </p:sp>
      <p:sp>
        <p:nvSpPr>
          <p:cNvPr id="157" name="Google Shape;157;p18"/>
          <p:cNvSpPr txBox="1"/>
          <p:nvPr/>
        </p:nvSpPr>
        <p:spPr>
          <a:xfrm>
            <a:off x="4635549" y="3819525"/>
            <a:ext cx="2921049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Data stored in dynamic columns.</a:t>
            </a:r>
            <a:endParaRPr/>
          </a:p>
        </p:txBody>
      </p:sp>
      <p:sp>
        <p:nvSpPr>
          <p:cNvPr id="158" name="Google Shape;158;p18"/>
          <p:cNvSpPr txBox="1"/>
          <p:nvPr/>
        </p:nvSpPr>
        <p:spPr>
          <a:xfrm>
            <a:off x="4635549" y="4238625"/>
            <a:ext cx="2921049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5EAA"/>
                </a:solidFill>
                <a:latin typeface="Lato"/>
                <a:ea typeface="Lato"/>
                <a:cs typeface="Lato"/>
                <a:sym typeface="Lato"/>
              </a:rPr>
              <a:t>Cassandra</a:t>
            </a:r>
            <a:endParaRPr/>
          </a:p>
        </p:txBody>
      </p:sp>
      <p:sp>
        <p:nvSpPr>
          <p:cNvPr id="159" name="Google Shape;159;p18"/>
          <p:cNvSpPr txBox="1"/>
          <p:nvPr/>
        </p:nvSpPr>
        <p:spPr>
          <a:xfrm>
            <a:off x="8413849" y="3819525"/>
            <a:ext cx="2921049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Focuses on relationships (nodes/edges).</a:t>
            </a:r>
            <a:endParaRPr/>
          </a:p>
        </p:txBody>
      </p:sp>
      <p:sp>
        <p:nvSpPr>
          <p:cNvPr id="160" name="Google Shape;160;p18"/>
          <p:cNvSpPr txBox="1"/>
          <p:nvPr/>
        </p:nvSpPr>
        <p:spPr>
          <a:xfrm>
            <a:off x="8413849" y="4543425"/>
            <a:ext cx="2921049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5EAA"/>
                </a:solidFill>
                <a:latin typeface="Lato"/>
                <a:ea typeface="Lato"/>
                <a:cs typeface="Lato"/>
                <a:sym typeface="Lato"/>
              </a:rPr>
              <a:t>Neo4j</a:t>
            </a:r>
            <a:endParaRPr/>
          </a:p>
        </p:txBody>
      </p:sp>
      <p:pic>
        <p:nvPicPr>
          <p:cNvPr id="161" name="Google Shape;161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079575" y="2876550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18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857875" y="2876550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18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664749" y="2876550"/>
            <a:ext cx="41910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8"/>
          <p:cNvSpPr txBox="1"/>
          <p:nvPr/>
        </p:nvSpPr>
        <p:spPr>
          <a:xfrm>
            <a:off x="784223" y="847725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TYPES OF NOSQL DATABASES</a:t>
            </a:r>
            <a:endParaRPr dirty="0"/>
          </a:p>
        </p:txBody>
      </p:sp>
      <p:sp>
        <p:nvSpPr>
          <p:cNvPr id="165" name="Google Shape;165;p18"/>
          <p:cNvSpPr/>
          <p:nvPr/>
        </p:nvSpPr>
        <p:spPr>
          <a:xfrm>
            <a:off x="571500" y="885825"/>
            <a:ext cx="76200" cy="600075"/>
          </a:xfrm>
          <a:prstGeom prst="rect">
            <a:avLst/>
          </a:prstGeom>
          <a:solidFill>
            <a:srgbClr val="005EA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8"/>
          <p:cNvSpPr txBox="1"/>
          <p:nvPr/>
        </p:nvSpPr>
        <p:spPr>
          <a:xfrm>
            <a:off x="784223" y="3543300"/>
            <a:ext cx="3067102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Key-Value</a:t>
            </a:r>
            <a:endParaRPr/>
          </a:p>
        </p:txBody>
      </p:sp>
      <p:sp>
        <p:nvSpPr>
          <p:cNvPr id="167" name="Google Shape;167;p18"/>
          <p:cNvSpPr txBox="1"/>
          <p:nvPr/>
        </p:nvSpPr>
        <p:spPr>
          <a:xfrm>
            <a:off x="4562523" y="3543300"/>
            <a:ext cx="3067102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Wide Column</a:t>
            </a:r>
            <a:endParaRPr/>
          </a:p>
        </p:txBody>
      </p:sp>
      <p:sp>
        <p:nvSpPr>
          <p:cNvPr id="168" name="Google Shape;168;p18"/>
          <p:cNvSpPr txBox="1"/>
          <p:nvPr/>
        </p:nvSpPr>
        <p:spPr>
          <a:xfrm>
            <a:off x="8340822" y="3543300"/>
            <a:ext cx="3067102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Graph Store</a:t>
            </a: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08E2FFB-044F-5EDC-23CC-25222A4BB27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825310" y="180975"/>
            <a:ext cx="1019175" cy="48577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CE2DACE-AAF3-7BB9-6086-6E227D39E99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74623" y="185737"/>
            <a:ext cx="1219200" cy="60007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Google Shape;173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53542" y="-4763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524624" y="2183606"/>
            <a:ext cx="4905375" cy="2562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1966912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19"/>
          <p:cNvSpPr txBox="1"/>
          <p:nvPr/>
        </p:nvSpPr>
        <p:spPr>
          <a:xfrm>
            <a:off x="6905625" y="2814637"/>
            <a:ext cx="414337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chemeClr val="bg2">
                    <a:lumMod val="40000"/>
                    <a:lumOff val="60000"/>
                  </a:schemeClr>
                </a:solidFill>
                <a:latin typeface="Lato"/>
                <a:ea typeface="Lato"/>
                <a:cs typeface="Lato"/>
                <a:sym typeface="Lato"/>
              </a:rPr>
              <a:t>The world's most popular document store.</a:t>
            </a:r>
            <a:endParaRPr dirty="0">
              <a:solidFill>
                <a:schemeClr val="bg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77" name="Google Shape;177;p19"/>
          <p:cNvSpPr txBox="1"/>
          <p:nvPr/>
        </p:nvSpPr>
        <p:spPr>
          <a:xfrm>
            <a:off x="7172325" y="3271837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78" name="Google Shape;178;p19"/>
          <p:cNvSpPr txBox="1"/>
          <p:nvPr/>
        </p:nvSpPr>
        <p:spPr>
          <a:xfrm>
            <a:off x="7286624" y="3182302"/>
            <a:ext cx="376237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chemeClr val="bg2">
                    <a:lumMod val="40000"/>
                    <a:lumOff val="60000"/>
                  </a:schemeClr>
                </a:solidFill>
                <a:latin typeface="Lato"/>
                <a:ea typeface="Lato"/>
                <a:cs typeface="Lato"/>
                <a:sym typeface="Lato"/>
              </a:rPr>
              <a:t>Stores data in JSON-like documents.</a:t>
            </a:r>
            <a:endParaRPr dirty="0">
              <a:solidFill>
                <a:schemeClr val="bg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79" name="Google Shape;179;p19"/>
          <p:cNvSpPr txBox="1"/>
          <p:nvPr/>
        </p:nvSpPr>
        <p:spPr>
          <a:xfrm>
            <a:off x="7172325" y="3576637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80" name="Google Shape;180;p19"/>
          <p:cNvSpPr txBox="1"/>
          <p:nvPr/>
        </p:nvSpPr>
        <p:spPr>
          <a:xfrm>
            <a:off x="7286625" y="3576637"/>
            <a:ext cx="3762375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chemeClr val="bg2">
                    <a:lumMod val="40000"/>
                    <a:lumOff val="60000"/>
                  </a:schemeClr>
                </a:solidFill>
                <a:latin typeface="Lato"/>
                <a:ea typeface="Lato"/>
                <a:cs typeface="Lato"/>
                <a:sym typeface="Lato"/>
              </a:rPr>
              <a:t>Fields can vary from document to document.</a:t>
            </a:r>
            <a:endParaRPr dirty="0">
              <a:solidFill>
                <a:schemeClr val="bg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81" name="Google Shape;181;p19"/>
          <p:cNvSpPr txBox="1"/>
          <p:nvPr/>
        </p:nvSpPr>
        <p:spPr>
          <a:xfrm>
            <a:off x="7172325" y="3881437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 dirty="0"/>
          </a:p>
        </p:txBody>
      </p:sp>
      <p:sp>
        <p:nvSpPr>
          <p:cNvPr id="182" name="Google Shape;182;p19"/>
          <p:cNvSpPr txBox="1"/>
          <p:nvPr/>
        </p:nvSpPr>
        <p:spPr>
          <a:xfrm>
            <a:off x="7286625" y="3806189"/>
            <a:ext cx="3762375" cy="1083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500" b="0" i="0" u="none" strike="noStrike" cap="none" dirty="0">
              <a:solidFill>
                <a:schemeClr val="bg2">
                  <a:lumMod val="40000"/>
                  <a:lumOff val="60000"/>
                </a:schemeClr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chemeClr val="bg2">
                    <a:lumMod val="40000"/>
                    <a:lumOff val="60000"/>
                  </a:schemeClr>
                </a:solidFill>
                <a:latin typeface="Lato"/>
                <a:ea typeface="Lato"/>
                <a:cs typeface="Lato"/>
                <a:sym typeface="Lato"/>
              </a:rPr>
              <a:t>Highly intuitive for developers</a:t>
            </a:r>
            <a:r>
              <a:rPr lang="en-US" sz="1500" b="0" i="0" u="none" strike="noStrike" cap="none" dirty="0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.</a:t>
            </a: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83" name="Google Shape;183;p19"/>
          <p:cNvSpPr txBox="1"/>
          <p:nvPr/>
        </p:nvSpPr>
        <p:spPr>
          <a:xfrm>
            <a:off x="689640" y="871537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THE DOCUMENT STORE</a:t>
            </a:r>
            <a:endParaRPr/>
          </a:p>
        </p:txBody>
      </p:sp>
      <p:sp>
        <p:nvSpPr>
          <p:cNvPr id="184" name="Google Shape;184;p19"/>
          <p:cNvSpPr/>
          <p:nvPr/>
        </p:nvSpPr>
        <p:spPr>
          <a:xfrm>
            <a:off x="550605" y="964790"/>
            <a:ext cx="76200" cy="600075"/>
          </a:xfrm>
          <a:prstGeom prst="rect">
            <a:avLst/>
          </a:prstGeom>
          <a:solidFill>
            <a:srgbClr val="005EA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9"/>
          <p:cNvSpPr txBox="1"/>
          <p:nvPr/>
        </p:nvSpPr>
        <p:spPr>
          <a:xfrm>
            <a:off x="6905625" y="2538412"/>
            <a:ext cx="4350543" cy="216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 dirty="0">
                <a:solidFill>
                  <a:schemeClr val="bg2">
                    <a:lumMod val="40000"/>
                    <a:lumOff val="60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MongoDB</a:t>
            </a:r>
            <a:endParaRPr dirty="0">
              <a:solidFill>
                <a:schemeClr val="bg2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515B9D3-6D03-EE52-E253-3273D99BE23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5974" y="140263"/>
            <a:ext cx="1219200" cy="60007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5F8D52A-E2D4-D313-2C56-1E4B0433296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46580" y="285750"/>
            <a:ext cx="1019175" cy="48577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0" name="Google Shape;190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20"/>
          <p:cNvSpPr txBox="1"/>
          <p:nvPr/>
        </p:nvSpPr>
        <p:spPr>
          <a:xfrm>
            <a:off x="571500" y="4567237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MongoDB is a cross-platform, document-oriented database that provides high performance, high availability, and easy scalability.</a:t>
            </a:r>
            <a:endParaRPr/>
          </a:p>
        </p:txBody>
      </p:sp>
      <p:sp>
        <p:nvSpPr>
          <p:cNvPr id="192" name="Google Shape;192;p20"/>
          <p:cNvSpPr txBox="1"/>
          <p:nvPr/>
        </p:nvSpPr>
        <p:spPr>
          <a:xfrm>
            <a:off x="571500" y="2757487"/>
            <a:ext cx="36766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005EAA"/>
                </a:solidFill>
                <a:latin typeface="Lato"/>
                <a:ea typeface="Lato"/>
                <a:cs typeface="Lato"/>
                <a:sym typeface="Lato"/>
              </a:rPr>
              <a:t>#1</a:t>
            </a:r>
            <a:endParaRPr/>
          </a:p>
        </p:txBody>
      </p:sp>
      <p:sp>
        <p:nvSpPr>
          <p:cNvPr id="193" name="Google Shape;193;p20"/>
          <p:cNvSpPr txBox="1"/>
          <p:nvPr/>
        </p:nvSpPr>
        <p:spPr>
          <a:xfrm>
            <a:off x="571500" y="3671887"/>
            <a:ext cx="36766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Document Database</a:t>
            </a:r>
            <a:endParaRPr/>
          </a:p>
        </p:txBody>
      </p:sp>
      <p:sp>
        <p:nvSpPr>
          <p:cNvPr id="194" name="Google Shape;194;p20"/>
          <p:cNvSpPr txBox="1"/>
          <p:nvPr/>
        </p:nvSpPr>
        <p:spPr>
          <a:xfrm>
            <a:off x="4257675" y="2757487"/>
            <a:ext cx="36766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005EAA"/>
                </a:solidFill>
                <a:latin typeface="Lato"/>
                <a:ea typeface="Lato"/>
                <a:cs typeface="Lato"/>
                <a:sym typeface="Lato"/>
              </a:rPr>
              <a:t>OSS</a:t>
            </a:r>
            <a:endParaRPr/>
          </a:p>
        </p:txBody>
      </p:sp>
      <p:sp>
        <p:nvSpPr>
          <p:cNvPr id="195" name="Google Shape;195;p20"/>
          <p:cNvSpPr txBox="1"/>
          <p:nvPr/>
        </p:nvSpPr>
        <p:spPr>
          <a:xfrm>
            <a:off x="4257675" y="3671887"/>
            <a:ext cx="36766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Open Source &amp; Community</a:t>
            </a:r>
            <a:endParaRPr/>
          </a:p>
        </p:txBody>
      </p:sp>
      <p:sp>
        <p:nvSpPr>
          <p:cNvPr id="196" name="Google Shape;196;p20"/>
          <p:cNvSpPr txBox="1"/>
          <p:nvPr/>
        </p:nvSpPr>
        <p:spPr>
          <a:xfrm>
            <a:off x="7943850" y="2757487"/>
            <a:ext cx="36766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005EAA"/>
                </a:solidFill>
                <a:latin typeface="Lato"/>
                <a:ea typeface="Lato"/>
                <a:cs typeface="Lato"/>
                <a:sym typeface="Lato"/>
              </a:rPr>
              <a:t>JSON</a:t>
            </a:r>
            <a:endParaRPr/>
          </a:p>
        </p:txBody>
      </p:sp>
      <p:sp>
        <p:nvSpPr>
          <p:cNvPr id="197" name="Google Shape;197;p20"/>
          <p:cNvSpPr txBox="1"/>
          <p:nvPr/>
        </p:nvSpPr>
        <p:spPr>
          <a:xfrm>
            <a:off x="7943850" y="3671887"/>
            <a:ext cx="36766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Developer Friendly</a:t>
            </a:r>
            <a:endParaRPr/>
          </a:p>
        </p:txBody>
      </p:sp>
      <p:sp>
        <p:nvSpPr>
          <p:cNvPr id="198" name="Google Shape;198;p20"/>
          <p:cNvSpPr txBox="1"/>
          <p:nvPr/>
        </p:nvSpPr>
        <p:spPr>
          <a:xfrm>
            <a:off x="719137" y="871537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WHAT IS MONGODB?</a:t>
            </a:r>
            <a:endParaRPr dirty="0"/>
          </a:p>
        </p:txBody>
      </p:sp>
      <p:sp>
        <p:nvSpPr>
          <p:cNvPr id="199" name="Google Shape;199;p20"/>
          <p:cNvSpPr/>
          <p:nvPr/>
        </p:nvSpPr>
        <p:spPr>
          <a:xfrm>
            <a:off x="533400" y="984455"/>
            <a:ext cx="76200" cy="600075"/>
          </a:xfrm>
          <a:prstGeom prst="rect">
            <a:avLst/>
          </a:prstGeom>
          <a:solidFill>
            <a:srgbClr val="005EA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0AF16B3-116E-820F-8E82-F352997BE8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56502" y="140570"/>
            <a:ext cx="1019175" cy="48577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1A9E42E-A5FE-61A4-CCC3-97631A23933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537" y="140570"/>
            <a:ext cx="1219200" cy="60007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" name="Google Shape;204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966912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1"/>
          <p:cNvSpPr txBox="1"/>
          <p:nvPr/>
        </p:nvSpPr>
        <p:spPr>
          <a:xfrm>
            <a:off x="571500" y="2243137"/>
            <a:ext cx="52863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MongoDB stores data in </a:t>
            </a:r>
            <a:r>
              <a:rPr lang="en-US" sz="1500" b="1" i="0" u="none" strike="noStrike" cap="non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BSON</a:t>
            </a:r>
            <a:r>
              <a:rPr lang="en-US" sz="1500" b="0" i="0" u="none" strike="noStrike" cap="non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 format. It's a binary representation of JSON-like documents.</a:t>
            </a:r>
            <a:endParaRPr/>
          </a:p>
        </p:txBody>
      </p:sp>
      <p:pic>
        <p:nvPicPr>
          <p:cNvPr id="207" name="Google Shape;207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1966912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1"/>
          <p:cNvSpPr txBox="1"/>
          <p:nvPr/>
        </p:nvSpPr>
        <p:spPr>
          <a:xfrm>
            <a:off x="647700" y="3024187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09" name="Google Shape;209;p21"/>
          <p:cNvSpPr txBox="1"/>
          <p:nvPr/>
        </p:nvSpPr>
        <p:spPr>
          <a:xfrm>
            <a:off x="762000" y="3024187"/>
            <a:ext cx="50958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Faster:</a:t>
            </a:r>
            <a:r>
              <a:rPr lang="en-US" sz="1500" b="0" i="0" u="none" strike="noStrike" cap="non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 Traversing binary data is quicker.</a:t>
            </a:r>
            <a:endParaRPr/>
          </a:p>
        </p:txBody>
      </p:sp>
      <p:sp>
        <p:nvSpPr>
          <p:cNvPr id="210" name="Google Shape;210;p21"/>
          <p:cNvSpPr txBox="1"/>
          <p:nvPr/>
        </p:nvSpPr>
        <p:spPr>
          <a:xfrm>
            <a:off x="647700" y="3328987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11" name="Google Shape;211;p21"/>
          <p:cNvSpPr txBox="1"/>
          <p:nvPr/>
        </p:nvSpPr>
        <p:spPr>
          <a:xfrm>
            <a:off x="762000" y="3328987"/>
            <a:ext cx="50958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More Data Types:</a:t>
            </a:r>
            <a:r>
              <a:rPr lang="en-US" sz="1500" b="0" i="0" u="none" strike="noStrike" cap="non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 Supports Date, Binary, ObjectId, etc.</a:t>
            </a:r>
            <a:endParaRPr/>
          </a:p>
        </p:txBody>
      </p:sp>
      <p:sp>
        <p:nvSpPr>
          <p:cNvPr id="212" name="Google Shape;212;p21"/>
          <p:cNvSpPr txBox="1"/>
          <p:nvPr/>
        </p:nvSpPr>
        <p:spPr>
          <a:xfrm>
            <a:off x="647700" y="3633787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213" name="Google Shape;213;p21"/>
          <p:cNvSpPr txBox="1"/>
          <p:nvPr/>
        </p:nvSpPr>
        <p:spPr>
          <a:xfrm>
            <a:off x="762000" y="3633787"/>
            <a:ext cx="50958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Space Efficient:</a:t>
            </a:r>
            <a:r>
              <a:rPr lang="en-US" sz="1500" b="0" i="0" u="none" strike="noStrike" cap="non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 Optimized for storage and scans.</a:t>
            </a:r>
            <a:endParaRPr/>
          </a:p>
        </p:txBody>
      </p:sp>
      <p:sp>
        <p:nvSpPr>
          <p:cNvPr id="214" name="Google Shape;214;p21"/>
          <p:cNvSpPr txBox="1"/>
          <p:nvPr/>
        </p:nvSpPr>
        <p:spPr>
          <a:xfrm>
            <a:off x="762000" y="981075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BSON: THE ENGINE OF MONGODB</a:t>
            </a:r>
            <a:endParaRPr/>
          </a:p>
        </p:txBody>
      </p:sp>
      <p:sp>
        <p:nvSpPr>
          <p:cNvPr id="215" name="Google Shape;215;p21"/>
          <p:cNvSpPr/>
          <p:nvPr/>
        </p:nvSpPr>
        <p:spPr>
          <a:xfrm>
            <a:off x="571500" y="1057274"/>
            <a:ext cx="76200" cy="600075"/>
          </a:xfrm>
          <a:prstGeom prst="rect">
            <a:avLst/>
          </a:prstGeom>
          <a:solidFill>
            <a:srgbClr val="005EA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21"/>
          <p:cNvSpPr txBox="1"/>
          <p:nvPr/>
        </p:nvSpPr>
        <p:spPr>
          <a:xfrm>
            <a:off x="571500" y="1966912"/>
            <a:ext cx="5550693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Binary JSON</a:t>
            </a: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B66EA7C-D079-BBBF-4AAA-192013A59A6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2400" y="131812"/>
            <a:ext cx="1219200" cy="60007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42982A5-B3BA-FE65-29E4-54EA03227AF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48348" y="225526"/>
            <a:ext cx="1019175" cy="48577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" name="Google Shape;221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28575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738687"/>
            <a:ext cx="11049000" cy="981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2024062"/>
            <a:ext cx="3492549" cy="2333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349799" y="2024062"/>
            <a:ext cx="3492549" cy="2333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22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128099" y="2024062"/>
            <a:ext cx="3492549" cy="2333625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22"/>
          <p:cNvSpPr txBox="1"/>
          <p:nvPr/>
        </p:nvSpPr>
        <p:spPr>
          <a:xfrm>
            <a:off x="762000" y="4929187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Example Document:</a:t>
            </a:r>
            <a:endParaRPr/>
          </a:p>
        </p:txBody>
      </p:sp>
      <p:sp>
        <p:nvSpPr>
          <p:cNvPr id="227" name="Google Shape;227;p22"/>
          <p:cNvSpPr txBox="1"/>
          <p:nvPr/>
        </p:nvSpPr>
        <p:spPr>
          <a:xfrm>
            <a:off x="857250" y="3348037"/>
            <a:ext cx="2921049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A container for collections. Like a SQL DB.</a:t>
            </a:r>
            <a:endParaRPr/>
          </a:p>
        </p:txBody>
      </p:sp>
      <p:sp>
        <p:nvSpPr>
          <p:cNvPr id="228" name="Google Shape;228;p22"/>
          <p:cNvSpPr txBox="1"/>
          <p:nvPr/>
        </p:nvSpPr>
        <p:spPr>
          <a:xfrm>
            <a:off x="4635549" y="3348037"/>
            <a:ext cx="2921049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A group of documents. Like a SQL Table.</a:t>
            </a:r>
            <a:endParaRPr/>
          </a:p>
        </p:txBody>
      </p:sp>
      <p:sp>
        <p:nvSpPr>
          <p:cNvPr id="229" name="Google Shape;229;p22"/>
          <p:cNvSpPr txBox="1"/>
          <p:nvPr/>
        </p:nvSpPr>
        <p:spPr>
          <a:xfrm>
            <a:off x="8413849" y="3348037"/>
            <a:ext cx="2921049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A record in a collection. Like a SQL Row.</a:t>
            </a:r>
            <a:endParaRPr/>
          </a:p>
        </p:txBody>
      </p:sp>
      <p:pic>
        <p:nvPicPr>
          <p:cNvPr id="230" name="Google Shape;230;p22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108150" y="2405062"/>
            <a:ext cx="41910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22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5829300" y="2405062"/>
            <a:ext cx="53340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22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9693324" y="2405062"/>
            <a:ext cx="3619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22"/>
          <p:cNvSpPr txBox="1"/>
          <p:nvPr/>
        </p:nvSpPr>
        <p:spPr>
          <a:xfrm>
            <a:off x="762000" y="795337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DATA HIERARCHY</a:t>
            </a:r>
            <a:endParaRPr dirty="0"/>
          </a:p>
        </p:txBody>
      </p:sp>
      <p:sp>
        <p:nvSpPr>
          <p:cNvPr id="234" name="Google Shape;234;p22"/>
          <p:cNvSpPr/>
          <p:nvPr/>
        </p:nvSpPr>
        <p:spPr>
          <a:xfrm>
            <a:off x="571500" y="809625"/>
            <a:ext cx="76200" cy="600075"/>
          </a:xfrm>
          <a:prstGeom prst="rect">
            <a:avLst/>
          </a:prstGeom>
          <a:solidFill>
            <a:srgbClr val="005EA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2"/>
          <p:cNvSpPr txBox="1"/>
          <p:nvPr/>
        </p:nvSpPr>
        <p:spPr>
          <a:xfrm>
            <a:off x="784223" y="3071812"/>
            <a:ext cx="3067102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Database</a:t>
            </a:r>
            <a:endParaRPr/>
          </a:p>
        </p:txBody>
      </p:sp>
      <p:sp>
        <p:nvSpPr>
          <p:cNvPr id="236" name="Google Shape;236;p22"/>
          <p:cNvSpPr txBox="1"/>
          <p:nvPr/>
        </p:nvSpPr>
        <p:spPr>
          <a:xfrm>
            <a:off x="4562523" y="3071812"/>
            <a:ext cx="3067102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Collection</a:t>
            </a:r>
            <a:endParaRPr/>
          </a:p>
        </p:txBody>
      </p:sp>
      <p:sp>
        <p:nvSpPr>
          <p:cNvPr id="237" name="Google Shape;237;p22"/>
          <p:cNvSpPr txBox="1"/>
          <p:nvPr/>
        </p:nvSpPr>
        <p:spPr>
          <a:xfrm>
            <a:off x="8340822" y="3071812"/>
            <a:ext cx="3067102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Document</a:t>
            </a: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34666E0-44D5-10C8-533E-ABA36E151E2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8100" y="71437"/>
            <a:ext cx="1219200" cy="60007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44AD788-2079-398D-E21D-7165ADAE094E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920412" y="249800"/>
            <a:ext cx="1019175" cy="48577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2" name="Google Shape;242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966912"/>
            <a:ext cx="5286375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2690812"/>
            <a:ext cx="5286375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23"/>
          <p:cNvSpPr txBox="1"/>
          <p:nvPr/>
        </p:nvSpPr>
        <p:spPr>
          <a:xfrm>
            <a:off x="6334125" y="2243137"/>
            <a:ext cx="52863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Open your terminal and type:</a:t>
            </a:r>
            <a:endParaRPr/>
          </a:p>
        </p:txBody>
      </p:sp>
      <p:sp>
        <p:nvSpPr>
          <p:cNvPr id="246" name="Google Shape;246;p23"/>
          <p:cNvSpPr txBox="1"/>
          <p:nvPr/>
        </p:nvSpPr>
        <p:spPr>
          <a:xfrm>
            <a:off x="6334125" y="3595687"/>
            <a:ext cx="528637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This confirms the server is running and your shell can communicate with it.</a:t>
            </a:r>
            <a:endParaRPr/>
          </a:p>
        </p:txBody>
      </p:sp>
      <p:pic>
        <p:nvPicPr>
          <p:cNvPr id="247" name="Google Shape;247;p2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024187" y="2290762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23"/>
          <p:cNvSpPr txBox="1"/>
          <p:nvPr/>
        </p:nvSpPr>
        <p:spPr>
          <a:xfrm>
            <a:off x="2062162" y="2671762"/>
            <a:ext cx="23050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Install Community Server</a:t>
            </a:r>
            <a:endParaRPr/>
          </a:p>
        </p:txBody>
      </p:sp>
      <p:pic>
        <p:nvPicPr>
          <p:cNvPr id="249" name="Google Shape;249;p2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143250" y="3186112"/>
            <a:ext cx="14287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p23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3000375" y="3471862"/>
            <a:ext cx="42862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23"/>
          <p:cNvSpPr txBox="1"/>
          <p:nvPr/>
        </p:nvSpPr>
        <p:spPr>
          <a:xfrm>
            <a:off x="2062162" y="3852862"/>
            <a:ext cx="23050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Install Mongosh (Shell)</a:t>
            </a:r>
            <a:endParaRPr/>
          </a:p>
        </p:txBody>
      </p:sp>
      <p:pic>
        <p:nvPicPr>
          <p:cNvPr id="252" name="Google Shape;252;p2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143250" y="4367212"/>
            <a:ext cx="14287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23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2976562" y="4652962"/>
            <a:ext cx="4762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23"/>
          <p:cNvSpPr txBox="1"/>
          <p:nvPr/>
        </p:nvSpPr>
        <p:spPr>
          <a:xfrm>
            <a:off x="2062162" y="5033962"/>
            <a:ext cx="23050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Connect to localhost:27017</a:t>
            </a:r>
            <a:endParaRPr/>
          </a:p>
        </p:txBody>
      </p:sp>
      <p:sp>
        <p:nvSpPr>
          <p:cNvPr id="255" name="Google Shape;255;p23"/>
          <p:cNvSpPr txBox="1"/>
          <p:nvPr/>
        </p:nvSpPr>
        <p:spPr>
          <a:xfrm>
            <a:off x="726818" y="871537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INSTALLATION &amp; SETUP</a:t>
            </a:r>
            <a:endParaRPr/>
          </a:p>
        </p:txBody>
      </p:sp>
      <p:sp>
        <p:nvSpPr>
          <p:cNvPr id="256" name="Google Shape;256;p23"/>
          <p:cNvSpPr/>
          <p:nvPr/>
        </p:nvSpPr>
        <p:spPr>
          <a:xfrm>
            <a:off x="571500" y="871536"/>
            <a:ext cx="76200" cy="600075"/>
          </a:xfrm>
          <a:prstGeom prst="rect">
            <a:avLst/>
          </a:prstGeom>
          <a:solidFill>
            <a:srgbClr val="005EA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3"/>
          <p:cNvSpPr txBox="1"/>
          <p:nvPr/>
        </p:nvSpPr>
        <p:spPr>
          <a:xfrm>
            <a:off x="6334125" y="1966912"/>
            <a:ext cx="5550693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Quick Verification</a:t>
            </a: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9B87195-9052-521F-CF67-B649FE46077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738515" y="180974"/>
            <a:ext cx="1019175" cy="48577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7E8BB03-010E-03E4-0ED6-64DE0C35BA6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94968" y="136805"/>
            <a:ext cx="1219200" cy="60007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4" name="Google Shape;424;p3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25" name="Google Shape;425;p33"/>
          <p:cNvSpPr/>
          <p:nvPr/>
        </p:nvSpPr>
        <p:spPr>
          <a:xfrm>
            <a:off x="571500" y="1522362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33"/>
          <p:cNvSpPr/>
          <p:nvPr/>
        </p:nvSpPr>
        <p:spPr>
          <a:xfrm>
            <a:off x="571500" y="2307133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33"/>
          <p:cNvSpPr/>
          <p:nvPr/>
        </p:nvSpPr>
        <p:spPr>
          <a:xfrm>
            <a:off x="571500" y="3091904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33"/>
          <p:cNvSpPr/>
          <p:nvPr/>
        </p:nvSpPr>
        <p:spPr>
          <a:xfrm>
            <a:off x="571500" y="3876675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33"/>
          <p:cNvSpPr/>
          <p:nvPr/>
        </p:nvSpPr>
        <p:spPr>
          <a:xfrm>
            <a:off x="571500" y="4661445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33"/>
          <p:cNvSpPr/>
          <p:nvPr/>
        </p:nvSpPr>
        <p:spPr>
          <a:xfrm>
            <a:off x="571500" y="2297608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33"/>
          <p:cNvSpPr/>
          <p:nvPr/>
        </p:nvSpPr>
        <p:spPr>
          <a:xfrm>
            <a:off x="571500" y="2297608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33"/>
          <p:cNvSpPr/>
          <p:nvPr/>
        </p:nvSpPr>
        <p:spPr>
          <a:xfrm>
            <a:off x="571500" y="3082379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33"/>
          <p:cNvSpPr/>
          <p:nvPr/>
        </p:nvSpPr>
        <p:spPr>
          <a:xfrm>
            <a:off x="571500" y="3082379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33"/>
          <p:cNvSpPr/>
          <p:nvPr/>
        </p:nvSpPr>
        <p:spPr>
          <a:xfrm>
            <a:off x="571500" y="386715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33"/>
          <p:cNvSpPr/>
          <p:nvPr/>
        </p:nvSpPr>
        <p:spPr>
          <a:xfrm>
            <a:off x="571500" y="386715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33"/>
          <p:cNvSpPr/>
          <p:nvPr/>
        </p:nvSpPr>
        <p:spPr>
          <a:xfrm>
            <a:off x="571500" y="465192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33"/>
          <p:cNvSpPr/>
          <p:nvPr/>
        </p:nvSpPr>
        <p:spPr>
          <a:xfrm>
            <a:off x="571500" y="465192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33"/>
          <p:cNvSpPr/>
          <p:nvPr/>
        </p:nvSpPr>
        <p:spPr>
          <a:xfrm>
            <a:off x="571500" y="5436691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33"/>
          <p:cNvSpPr/>
          <p:nvPr/>
        </p:nvSpPr>
        <p:spPr>
          <a:xfrm>
            <a:off x="571500" y="5436691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40" name="Google Shape;440;p3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671786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441" name="Google Shape;441;p33"/>
          <p:cNvSpPr txBox="1"/>
          <p:nvPr/>
        </p:nvSpPr>
        <p:spPr>
          <a:xfrm>
            <a:off x="1666875" y="1665237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https://www.nti.sci.eg/images/logo.png</a:t>
            </a:r>
            <a:endParaRPr/>
          </a:p>
        </p:txBody>
      </p:sp>
      <p:sp>
        <p:nvSpPr>
          <p:cNvPr id="442" name="Google Shape;442;p33"/>
          <p:cNvSpPr txBox="1"/>
          <p:nvPr/>
        </p:nvSpPr>
        <p:spPr>
          <a:xfrm>
            <a:off x="1666875" y="1910953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www.nti.sci.eg</a:t>
            </a:r>
            <a:endParaRPr/>
          </a:p>
        </p:txBody>
      </p:sp>
      <p:pic>
        <p:nvPicPr>
          <p:cNvPr id="443" name="Google Shape;443;p3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245655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444" name="Google Shape;444;p33"/>
          <p:cNvSpPr txBox="1"/>
          <p:nvPr/>
        </p:nvSpPr>
        <p:spPr>
          <a:xfrm>
            <a:off x="1666875" y="2450008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https://media.geeksforgeeks.org/wp-content/uploads/20231107111719/MongoDB-Architecture.png</a:t>
            </a:r>
            <a:endParaRPr/>
          </a:p>
        </p:txBody>
      </p:sp>
      <p:sp>
        <p:nvSpPr>
          <p:cNvPr id="445" name="Google Shape;445;p33"/>
          <p:cNvSpPr txBox="1"/>
          <p:nvPr/>
        </p:nvSpPr>
        <p:spPr>
          <a:xfrm>
            <a:off x="1666875" y="2695723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www.geeksforgeeks.org</a:t>
            </a:r>
            <a:endParaRPr/>
          </a:p>
        </p:txBody>
      </p:sp>
      <p:pic>
        <p:nvPicPr>
          <p:cNvPr id="446" name="Google Shape;446;p3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24132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447" name="Google Shape;447;p33"/>
          <p:cNvSpPr txBox="1"/>
          <p:nvPr/>
        </p:nvSpPr>
        <p:spPr>
          <a:xfrm>
            <a:off x="1666875" y="3234779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https://miro.medium.com/0*jThgXou1RZ6hPiq6.jpg</a:t>
            </a:r>
            <a:endParaRPr/>
          </a:p>
        </p:txBody>
      </p:sp>
      <p:sp>
        <p:nvSpPr>
          <p:cNvPr id="448" name="Google Shape;448;p33"/>
          <p:cNvSpPr txBox="1"/>
          <p:nvPr/>
        </p:nvSpPr>
        <p:spPr>
          <a:xfrm>
            <a:off x="1666875" y="3480494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coderiksenthil.medium.com</a:t>
            </a:r>
            <a:endParaRPr/>
          </a:p>
        </p:txBody>
      </p:sp>
      <p:pic>
        <p:nvPicPr>
          <p:cNvPr id="449" name="Google Shape;449;p3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4026098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450" name="Google Shape;450;p33"/>
          <p:cNvSpPr txBox="1"/>
          <p:nvPr/>
        </p:nvSpPr>
        <p:spPr>
          <a:xfrm>
            <a:off x="1666875" y="4019550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https://cdn.educba.com/academy/wp-content/uploads/2018/11/JSON-vs-BSON.jpg</a:t>
            </a:r>
            <a:endParaRPr/>
          </a:p>
        </p:txBody>
      </p:sp>
      <p:sp>
        <p:nvSpPr>
          <p:cNvPr id="451" name="Google Shape;451;p33"/>
          <p:cNvSpPr txBox="1"/>
          <p:nvPr/>
        </p:nvSpPr>
        <p:spPr>
          <a:xfrm>
            <a:off x="1666875" y="4265265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www.educba.com</a:t>
            </a:r>
            <a:endParaRPr/>
          </a:p>
        </p:txBody>
      </p:sp>
      <p:pic>
        <p:nvPicPr>
          <p:cNvPr id="452" name="Google Shape;452;p33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71500" y="4810869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453" name="Google Shape;453;p33"/>
          <p:cNvSpPr txBox="1"/>
          <p:nvPr/>
        </p:nvSpPr>
        <p:spPr>
          <a:xfrm>
            <a:off x="1666875" y="4804320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https://media.geeksforgeeks.org/wp-content/uploads/20220523175518/CRUDOperations.png</a:t>
            </a:r>
            <a:endParaRPr/>
          </a:p>
        </p:txBody>
      </p:sp>
      <p:sp>
        <p:nvSpPr>
          <p:cNvPr id="454" name="Google Shape;454;p33"/>
          <p:cNvSpPr txBox="1"/>
          <p:nvPr/>
        </p:nvSpPr>
        <p:spPr>
          <a:xfrm>
            <a:off x="1666875" y="5050035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www.geeksforgeeks.org</a:t>
            </a:r>
            <a:endParaRPr/>
          </a:p>
        </p:txBody>
      </p:sp>
      <p:pic>
        <p:nvPicPr>
          <p:cNvPr id="455" name="Google Shape;455;p33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571500" y="5595639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456" name="Google Shape;456;p33"/>
          <p:cNvSpPr txBox="1"/>
          <p:nvPr/>
        </p:nvSpPr>
        <p:spPr>
          <a:xfrm>
            <a:off x="1666875" y="5589091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https://marionoioso.com/wp-content/uploads/2026/02/MongoDB-Data-Modeling-The-Truth-About-Relationships-Data-Duplication-and-Performance.jpg</a:t>
            </a:r>
            <a:endParaRPr/>
          </a:p>
        </p:txBody>
      </p:sp>
      <p:sp>
        <p:nvSpPr>
          <p:cNvPr id="457" name="Google Shape;457;p33"/>
          <p:cNvSpPr txBox="1"/>
          <p:nvPr/>
        </p:nvSpPr>
        <p:spPr>
          <a:xfrm>
            <a:off x="1666875" y="5834806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marionoioso.com</a:t>
            </a:r>
            <a:endParaRPr/>
          </a:p>
        </p:txBody>
      </p:sp>
      <p:sp>
        <p:nvSpPr>
          <p:cNvPr id="458" name="Google Shape;458;p33"/>
          <p:cNvSpPr txBox="1"/>
          <p:nvPr/>
        </p:nvSpPr>
        <p:spPr>
          <a:xfrm>
            <a:off x="719137" y="871537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IMAGE SOURCES</a:t>
            </a:r>
            <a:endParaRPr/>
          </a:p>
        </p:txBody>
      </p:sp>
      <p:sp>
        <p:nvSpPr>
          <p:cNvPr id="459" name="Google Shape;459;p33"/>
          <p:cNvSpPr/>
          <p:nvPr/>
        </p:nvSpPr>
        <p:spPr>
          <a:xfrm>
            <a:off x="495300" y="847500"/>
            <a:ext cx="76200" cy="600075"/>
          </a:xfrm>
          <a:prstGeom prst="rect">
            <a:avLst/>
          </a:prstGeom>
          <a:solidFill>
            <a:srgbClr val="005EA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94E880B-075A-AABC-1CC9-DC2430CFD78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9537" y="30284"/>
            <a:ext cx="1219200" cy="60007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D56E233-9FC4-BE3D-47A2-4786DE594CC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885999" y="199510"/>
            <a:ext cx="1019175" cy="48577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4" name="Google Shape;464;p3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65" name="Google Shape;465;p34"/>
          <p:cNvSpPr/>
          <p:nvPr/>
        </p:nvSpPr>
        <p:spPr>
          <a:xfrm>
            <a:off x="571500" y="2699444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34"/>
          <p:cNvSpPr/>
          <p:nvPr/>
        </p:nvSpPr>
        <p:spPr>
          <a:xfrm>
            <a:off x="571500" y="3484215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34"/>
          <p:cNvSpPr/>
          <p:nvPr/>
        </p:nvSpPr>
        <p:spPr>
          <a:xfrm>
            <a:off x="571500" y="347469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34"/>
          <p:cNvSpPr/>
          <p:nvPr/>
        </p:nvSpPr>
        <p:spPr>
          <a:xfrm>
            <a:off x="571500" y="347469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34"/>
          <p:cNvSpPr/>
          <p:nvPr/>
        </p:nvSpPr>
        <p:spPr>
          <a:xfrm>
            <a:off x="571500" y="425946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34"/>
          <p:cNvSpPr/>
          <p:nvPr/>
        </p:nvSpPr>
        <p:spPr>
          <a:xfrm>
            <a:off x="571500" y="425946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71" name="Google Shape;471;p3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84886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472" name="Google Shape;472;p34"/>
          <p:cNvSpPr txBox="1"/>
          <p:nvPr/>
        </p:nvSpPr>
        <p:spPr>
          <a:xfrm>
            <a:off x="1666875" y="2842319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https://cdn.prod.website-files.com/6717800cb1e973b8fc433b03/6717800cb1e973b8fc434341_670199f49cd01719054e968c_T8LWGtLjMYc0avFy.gif</a:t>
            </a:r>
            <a:endParaRPr/>
          </a:p>
        </p:txBody>
      </p:sp>
      <p:sp>
        <p:nvSpPr>
          <p:cNvPr id="473" name="Google Shape;473;p34"/>
          <p:cNvSpPr txBox="1"/>
          <p:nvPr/>
        </p:nvSpPr>
        <p:spPr>
          <a:xfrm>
            <a:off x="1666875" y="3088034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www.mydbops.com</a:t>
            </a:r>
            <a:endParaRPr/>
          </a:p>
        </p:txBody>
      </p:sp>
      <p:pic>
        <p:nvPicPr>
          <p:cNvPr id="474" name="Google Shape;474;p3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633638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475" name="Google Shape;475;p34"/>
          <p:cNvSpPr txBox="1"/>
          <p:nvPr/>
        </p:nvSpPr>
        <p:spPr>
          <a:xfrm>
            <a:off x="1666875" y="3627090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https://i.sstatic.net/m2tBs.png</a:t>
            </a:r>
            <a:endParaRPr/>
          </a:p>
        </p:txBody>
      </p:sp>
      <p:sp>
        <p:nvSpPr>
          <p:cNvPr id="476" name="Google Shape;476;p34"/>
          <p:cNvSpPr txBox="1"/>
          <p:nvPr/>
        </p:nvSpPr>
        <p:spPr>
          <a:xfrm>
            <a:off x="1666875" y="3872805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stackoverflow.com</a:t>
            </a:r>
            <a:endParaRPr/>
          </a:p>
        </p:txBody>
      </p:sp>
      <p:pic>
        <p:nvPicPr>
          <p:cNvPr id="477" name="Google Shape;477;p3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418409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478" name="Google Shape;478;p34"/>
          <p:cNvSpPr txBox="1"/>
          <p:nvPr/>
        </p:nvSpPr>
        <p:spPr>
          <a:xfrm>
            <a:off x="1666875" y="4411860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https://www.scaler.com/topics/images/mongodb-restore-command_thumbnail.webp</a:t>
            </a:r>
            <a:endParaRPr/>
          </a:p>
        </p:txBody>
      </p:sp>
      <p:sp>
        <p:nvSpPr>
          <p:cNvPr id="479" name="Google Shape;479;p34"/>
          <p:cNvSpPr txBox="1"/>
          <p:nvPr/>
        </p:nvSpPr>
        <p:spPr>
          <a:xfrm>
            <a:off x="1666875" y="4657576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44444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www.scaler.com</a:t>
            </a:r>
            <a:endParaRPr/>
          </a:p>
        </p:txBody>
      </p:sp>
      <p:sp>
        <p:nvSpPr>
          <p:cNvPr id="480" name="Google Shape;480;p34"/>
          <p:cNvSpPr txBox="1"/>
          <p:nvPr/>
        </p:nvSpPr>
        <p:spPr>
          <a:xfrm>
            <a:off x="790575" y="824655"/>
            <a:ext cx="11401425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IMAGE SOURCES</a:t>
            </a:r>
            <a:endParaRPr dirty="0"/>
          </a:p>
        </p:txBody>
      </p:sp>
      <p:sp>
        <p:nvSpPr>
          <p:cNvPr id="481" name="Google Shape;481;p34"/>
          <p:cNvSpPr/>
          <p:nvPr/>
        </p:nvSpPr>
        <p:spPr>
          <a:xfrm>
            <a:off x="571500" y="885526"/>
            <a:ext cx="76200" cy="600075"/>
          </a:xfrm>
          <a:prstGeom prst="rect">
            <a:avLst/>
          </a:prstGeom>
          <a:solidFill>
            <a:srgbClr val="005EA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1F74E26-F2A8-1050-A3D0-3B81F5C940F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895831" y="170102"/>
            <a:ext cx="1019175" cy="48577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4B3C782-8D88-24A4-CF3A-4F5D698FB04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100" y="49410"/>
            <a:ext cx="1219200" cy="60007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670</Words>
  <Application>Microsoft Office PowerPoint</Application>
  <PresentationFormat>Widescreen</PresentationFormat>
  <Paragraphs>102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Poppins</vt:lpstr>
      <vt:lpstr>Lato</vt:lpstr>
      <vt:lpstr>Arial</vt:lpstr>
      <vt:lpstr>Lato Light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Ahmad Mohamd Foaad</cp:lastModifiedBy>
  <cp:revision>3</cp:revision>
  <dcterms:modified xsi:type="dcterms:W3CDTF">2026-06-29T19:22:10Z</dcterms:modified>
</cp:coreProperties>
</file>