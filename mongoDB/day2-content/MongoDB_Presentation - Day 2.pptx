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BEC7A6-C31C-49CD-B75C-7B8EC719DAA8}">
  <a:tblStyle styleId="{21BEC7A6-C31C-49CD-B75C-7B8EC719DA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.png"/><Relationship Id="rId5" Type="http://schemas.openxmlformats.org/officeDocument/2006/relationships/image" Target="../media/image32.png"/><Relationship Id="rId10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826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53743" y="1619019"/>
            <a:ext cx="3105284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SUMMER TRAINING</a:t>
            </a:r>
            <a:endParaRPr sz="32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825900" y="3413819"/>
            <a:ext cx="67945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EAA"/>
                </a:solidFill>
                <a:latin typeface="Lato Light"/>
                <a:ea typeface="Lato Light"/>
                <a:cs typeface="Lato Light"/>
                <a:sym typeface="Lato Light"/>
              </a:rPr>
              <a:t>Modern Data Management for Developers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25900" y="4377630"/>
            <a:ext cx="67945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National Telecommunication Institute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25900" y="4796730"/>
            <a:ext cx="67945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Ministry of Communications and Information Technology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25900" y="1642169"/>
            <a:ext cx="71343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F0752-8CD2-7C09-DF0A-01E95D177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3" y="-485775"/>
            <a:ext cx="1219200" cy="600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C6C04-5295-9B74-6888-38CC67722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6334" y="-485775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66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76248" y="2785349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01.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CRUD Operations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76249" y="3230910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02.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Data Modeling &amp; Schema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76249" y="3738759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03.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Aggregation &amp; Optimization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395287" y="1207984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COURSE ROADMAP</a:t>
            </a:r>
            <a:endParaRPr dirty="0"/>
          </a:p>
        </p:txBody>
      </p:sp>
      <p:sp>
        <p:nvSpPr>
          <p:cNvPr id="104" name="Google Shape;104;p14"/>
          <p:cNvSpPr/>
          <p:nvPr/>
        </p:nvSpPr>
        <p:spPr>
          <a:xfrm>
            <a:off x="239431" y="1207983"/>
            <a:ext cx="75201" cy="37501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CDD69-F9F2-D93A-7A14-7BFB62F0D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4556" y="204788"/>
            <a:ext cx="1022709" cy="495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23B35-7F75-196C-F96E-0241AA5D0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969" y="61912"/>
            <a:ext cx="1213195" cy="600075"/>
          </a:xfrm>
          <a:prstGeom prst="rect">
            <a:avLst/>
          </a:prstGeom>
        </p:spPr>
      </p:pic>
      <p:sp>
        <p:nvSpPr>
          <p:cNvPr id="2" name="Google Shape;102;p14">
            <a:extLst>
              <a:ext uri="{FF2B5EF4-FFF2-40B4-BE49-F238E27FC236}">
                <a16:creationId xmlns:a16="http://schemas.microsoft.com/office/drawing/2014/main" id="{5F89D2C6-B270-7ACF-8FF1-300E00B51DD2}"/>
              </a:ext>
            </a:extLst>
          </p:cNvPr>
          <p:cNvSpPr txBox="1"/>
          <p:nvPr/>
        </p:nvSpPr>
        <p:spPr>
          <a:xfrm>
            <a:off x="476248" y="4205187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950" b="1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Indexes</a:t>
            </a:r>
          </a:p>
        </p:txBody>
      </p:sp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3A4DCB2B-0055-2196-ED97-1A36D374A43E}"/>
              </a:ext>
            </a:extLst>
          </p:cNvPr>
          <p:cNvSpPr txBox="1"/>
          <p:nvPr/>
        </p:nvSpPr>
        <p:spPr>
          <a:xfrm>
            <a:off x="476248" y="4650748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950" b="1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Backup &amp; Restore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90812"/>
            <a:ext cx="5286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22431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Adds a single document to a collection.</a:t>
            </a:r>
            <a:endParaRPr dirty="0"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392906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MongoDB automatically adds a unique </a:t>
            </a:r>
            <a:r>
              <a:rPr lang="en-US" sz="135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_id</a:t>
            </a:r>
            <a:r>
              <a:rPr lang="en-US" sz="13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if you don't provide one.</a:t>
            </a:r>
            <a:endParaRPr/>
          </a:p>
        </p:txBody>
      </p:sp>
      <p:pic>
        <p:nvPicPr>
          <p:cNvPr id="267" name="Google Shape;26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790575" y="683419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CRUD: CREATE OPERATION</a:t>
            </a:r>
            <a:endParaRPr dirty="0"/>
          </a:p>
        </p:txBody>
      </p:sp>
      <p:sp>
        <p:nvSpPr>
          <p:cNvPr id="269" name="Google Shape;269;p24"/>
          <p:cNvSpPr/>
          <p:nvPr/>
        </p:nvSpPr>
        <p:spPr>
          <a:xfrm>
            <a:off x="571500" y="725091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8A745"/>
                </a:solidFill>
                <a:latin typeface="Poppins"/>
                <a:ea typeface="Poppins"/>
                <a:cs typeface="Poppins"/>
                <a:sym typeface="Poppins"/>
              </a:rPr>
              <a:t>insertOne()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92A12-9831-3698-634D-49704C7754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5" y="104181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2B19C2-8A52-2778-D570-F34205CD24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7845" y="197644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5737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25"/>
          <p:cNvGraphicFramePr/>
          <p:nvPr/>
        </p:nvGraphicFramePr>
        <p:xfrm>
          <a:off x="571500" y="2314575"/>
          <a:ext cx="11048975" cy="3305125"/>
        </p:xfrm>
        <a:graphic>
          <a:graphicData uri="http://schemas.openxmlformats.org/drawingml/2006/table">
            <a:tbl>
              <a:tblPr firstRow="1" bandRow="1">
                <a:noFill/>
                <a:tableStyleId>{21BEC7A6-C31C-49CD-B75C-7B8EC719DAA8}</a:tableStyleId>
              </a:tblPr>
              <a:tblGrid>
                <a:gridCol w="18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Practical 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$gt</a:t>
                      </a: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</a:t>
                      </a: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$gte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Greater than / or equal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 price: { $gt: 100 } }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$lt</a:t>
                      </a: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</a:t>
                      </a: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$lte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Less than / or equal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 age: { $lt: 18 } }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 equal 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 status: { $ne: "deleted" } }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Matches any in array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{ tags: { $in: ["tech", "ai"] } }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7" name="Google Shape;277;p25"/>
          <p:cNvSpPr/>
          <p:nvPr/>
        </p:nvSpPr>
        <p:spPr>
          <a:xfrm>
            <a:off x="571500" y="3605212"/>
            <a:ext cx="18366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408187" y="3605212"/>
            <a:ext cx="32347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642967" y="3605212"/>
            <a:ext cx="59775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4271962"/>
            <a:ext cx="18366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2408187" y="4271962"/>
            <a:ext cx="32347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642967" y="4271962"/>
            <a:ext cx="59775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938712"/>
            <a:ext cx="18366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2408187" y="4938712"/>
            <a:ext cx="32347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642967" y="4938712"/>
            <a:ext cx="59775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5605462"/>
            <a:ext cx="18366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408187" y="5605462"/>
            <a:ext cx="32347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642967" y="5605462"/>
            <a:ext cx="59775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790575" y="735806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QUERY COMPARISON OPERATORS</a:t>
            </a:r>
            <a:endParaRPr dirty="0"/>
          </a:p>
        </p:txBody>
      </p:sp>
      <p:sp>
        <p:nvSpPr>
          <p:cNvPr id="290" name="Google Shape;290;p25"/>
          <p:cNvSpPr/>
          <p:nvPr/>
        </p:nvSpPr>
        <p:spPr>
          <a:xfrm>
            <a:off x="571500" y="735805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DCECC-1E0E-D5FB-0251-F50E62E01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322" y="122518"/>
            <a:ext cx="1019175" cy="485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5C3DA-CF1D-277D-C525-F6EDD4312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" y="185737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075" y="2171700"/>
            <a:ext cx="49720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171700"/>
            <a:ext cx="49720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75" y="3952875"/>
            <a:ext cx="49720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952875"/>
            <a:ext cx="49720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1266825" y="2781300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Joins query clauses with a logical OR.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524625" y="2781300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Inverse of OR. Neither condition matches.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266825" y="4562475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Matches docs with at least one array element that matches all criteria.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6524625" y="4562475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Matches arrays that contain all specified elements.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723746" y="785813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ADVANCED QUERYING</a:t>
            </a:r>
            <a:endParaRPr dirty="0"/>
          </a:p>
        </p:txBody>
      </p:sp>
      <p:sp>
        <p:nvSpPr>
          <p:cNvPr id="305" name="Google Shape;305;p26"/>
          <p:cNvSpPr/>
          <p:nvPr/>
        </p:nvSpPr>
        <p:spPr>
          <a:xfrm>
            <a:off x="580717" y="785812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156811" y="2505075"/>
            <a:ext cx="46205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$or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6414611" y="2505075"/>
            <a:ext cx="46205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$nor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1156811" y="4286250"/>
            <a:ext cx="46205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$elemMatch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414611" y="4286250"/>
            <a:ext cx="46205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$all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DEC8F-16FA-951C-CDED-8445C8587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1" y="19049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F1A6F9-DBE5-976A-EA4C-846693B7C8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9392" y="188119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571500" y="22431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Store related data in a single document (One-to-One / One-to-Few).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571500" y="38242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Use for: User Addresses, Product Specs.</a:t>
            </a:r>
            <a:endParaRPr/>
          </a:p>
        </p:txBody>
      </p:sp>
      <p:pic>
        <p:nvPicPr>
          <p:cNvPr id="318" name="Google Shape;31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838200" y="30241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952500" y="30241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000"/>
                </a:solidFill>
                <a:latin typeface="Lato"/>
                <a:ea typeface="Lato"/>
                <a:cs typeface="Lato"/>
                <a:sym typeface="Lato"/>
              </a:rPr>
              <a:t>✔ High Performance (Single Read)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83820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952500" y="33289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✘ Document size limit (16MB)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719137" y="795336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 MODELING STRATEGIES</a:t>
            </a:r>
            <a:endParaRPr dirty="0"/>
          </a:p>
        </p:txBody>
      </p:sp>
      <p:sp>
        <p:nvSpPr>
          <p:cNvPr id="324" name="Google Shape;324;p27"/>
          <p:cNvSpPr/>
          <p:nvPr/>
        </p:nvSpPr>
        <p:spPr>
          <a:xfrm>
            <a:off x="533400" y="81915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571500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Embedded Documents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EE2AD-7604-742C-8D5D-3C6FFEEA8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993" y="154781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1A9340-EADE-98AA-23ED-592737D6B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" y="180975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3714" y="3067050"/>
            <a:ext cx="318194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 txBox="1"/>
          <p:nvPr/>
        </p:nvSpPr>
        <p:spPr>
          <a:xfrm>
            <a:off x="6334125" y="22431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MongoDB is "Schema-less," but in production, we need rules.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6334125" y="26622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Validators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allow us to define JSON Schemas for collections to ensure: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6410325" y="3424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6524625" y="342423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Required fields are present.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6410325" y="3729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6524625" y="372903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Data types are correct.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6410325" y="4033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6524625" y="403383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Values fall within ranges.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719137" y="792956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SCHEMA VALIDATION</a:t>
            </a:r>
            <a:endParaRPr dirty="0"/>
          </a:p>
        </p:txBody>
      </p:sp>
      <p:sp>
        <p:nvSpPr>
          <p:cNvPr id="342" name="Google Shape;342;p28"/>
          <p:cNvSpPr/>
          <p:nvPr/>
        </p:nvSpPr>
        <p:spPr>
          <a:xfrm>
            <a:off x="533400" y="792955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6334125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Enforcing Quality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78517-B46E-0A05-7607-A487A44A9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336" y="128509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B4FC2-A838-4196-FE5D-9053136BDA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4489" y="185660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52" y="27530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47850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47850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67225"/>
            <a:ext cx="11049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857250" y="317182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Filters documents (like WHERE in SQL).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4635549" y="31718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Aggregates data (like GROUP BY).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8413849" y="31718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Reshapes documents (Select fields).</a:t>
            </a:r>
            <a:endParaRPr/>
          </a:p>
        </p:txBody>
      </p:sp>
      <p:pic>
        <p:nvPicPr>
          <p:cNvPr id="356" name="Google Shape;356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9575" y="22288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29300" y="22288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7599" y="22288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 txBox="1"/>
          <p:nvPr/>
        </p:nvSpPr>
        <p:spPr>
          <a:xfrm>
            <a:off x="784223" y="7239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AGGREGATION PIPELINE</a:t>
            </a:r>
            <a:endParaRPr dirty="0"/>
          </a:p>
        </p:txBody>
      </p:sp>
      <p:sp>
        <p:nvSpPr>
          <p:cNvPr id="360" name="Google Shape;360;p29"/>
          <p:cNvSpPr/>
          <p:nvPr/>
        </p:nvSpPr>
        <p:spPr>
          <a:xfrm>
            <a:off x="571500" y="761539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784223" y="28956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$match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4562523" y="28956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$group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8340822" y="28956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$project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3A26E-3F96-0360-06C2-F212CB6BCD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8336" y="196031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FE7109-34BB-9148-15DA-B33C17DBFB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" y="28575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2162"/>
            <a:ext cx="35559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062162"/>
            <a:ext cx="35559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062162"/>
            <a:ext cx="35560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67162"/>
            <a:ext cx="35559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967162"/>
            <a:ext cx="35559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967162"/>
            <a:ext cx="35560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/>
          <p:nvPr/>
        </p:nvSpPr>
        <p:spPr>
          <a:xfrm>
            <a:off x="2168425" y="2300287"/>
            <a:ext cx="361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$sort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762000" y="2481262"/>
            <a:ext cx="317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Orders documents.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5905351" y="2300287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$limit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4508450" y="2481262"/>
            <a:ext cx="317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Passes only N docs.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9547175" y="2300287"/>
            <a:ext cx="590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$unwind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8254900" y="2481262"/>
            <a:ext cx="317509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Flattens arrays.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2073175" y="4205287"/>
            <a:ext cx="552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$lookup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762000" y="4386262"/>
            <a:ext cx="317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Left outer join.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5857726" y="4205287"/>
            <a:ext cx="4762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$count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4508450" y="4386262"/>
            <a:ext cx="3174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Returns doc count.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9475737" y="4205287"/>
            <a:ext cx="7334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$addFields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8254900" y="4386262"/>
            <a:ext cx="317509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Adds new fields.</a:t>
            </a:r>
            <a:endParaRPr/>
          </a:p>
        </p:txBody>
      </p:sp>
      <p:sp>
        <p:nvSpPr>
          <p:cNvPr id="387" name="Google Shape;387;p30"/>
          <p:cNvSpPr txBox="1"/>
          <p:nvPr/>
        </p:nvSpPr>
        <p:spPr>
          <a:xfrm>
            <a:off x="762000" y="79905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PIPELINE STAGES IN ACTION</a:t>
            </a:r>
            <a:endParaRPr dirty="0"/>
          </a:p>
        </p:txBody>
      </p:sp>
      <p:sp>
        <p:nvSpPr>
          <p:cNvPr id="388" name="Google Shape;388;p30"/>
          <p:cNvSpPr/>
          <p:nvPr/>
        </p:nvSpPr>
        <p:spPr>
          <a:xfrm>
            <a:off x="562897" y="87630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DD637-D117-21C4-A8FC-BD41504F8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7" y="66675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8ABAD1-D8AD-B3B0-A33B-B59C998AE9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7509" y="156641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1"/>
          <p:cNvSpPr txBox="1"/>
          <p:nvPr/>
        </p:nvSpPr>
        <p:spPr>
          <a:xfrm>
            <a:off x="571500" y="22431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Without an index, MongoDB must perform a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Collection Scan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(reading every document).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571500" y="29670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Common Types:</a:t>
            </a:r>
            <a:endParaRPr/>
          </a:p>
        </p:txBody>
      </p:sp>
      <p:pic>
        <p:nvPicPr>
          <p:cNvPr id="397" name="Google Shape;39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1"/>
          <p:cNvSpPr txBox="1"/>
          <p:nvPr/>
        </p:nvSpPr>
        <p:spPr>
          <a:xfrm>
            <a:off x="838200" y="3443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952500" y="34432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Single Field: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Index on one key.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838200" y="3748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952500" y="37480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Compound: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Index on multiple keys.</a:t>
            </a:r>
            <a:endParaRPr/>
          </a:p>
        </p:txBody>
      </p:sp>
      <p:sp>
        <p:nvSpPr>
          <p:cNvPr id="402" name="Google Shape;402;p31"/>
          <p:cNvSpPr txBox="1"/>
          <p:nvPr/>
        </p:nvSpPr>
        <p:spPr>
          <a:xfrm>
            <a:off x="838200" y="40528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3" name="Google Shape;403;p31"/>
          <p:cNvSpPr txBox="1"/>
          <p:nvPr/>
        </p:nvSpPr>
        <p:spPr>
          <a:xfrm>
            <a:off x="952500" y="40528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TTL: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Automatically deletes docs after time.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9137" y="7810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INDEXES &amp; PERFORMANCE</a:t>
            </a:r>
            <a:endParaRPr dirty="0"/>
          </a:p>
        </p:txBody>
      </p:sp>
      <p:sp>
        <p:nvSpPr>
          <p:cNvPr id="405" name="Google Shape;405;p31"/>
          <p:cNvSpPr/>
          <p:nvPr/>
        </p:nvSpPr>
        <p:spPr>
          <a:xfrm>
            <a:off x="533400" y="78105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571500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Why Index?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D97599-E800-F830-84A2-ED9333B44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57150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B575F1-631E-25EF-3ED4-FBA0CBFAF1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3275" y="295275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11029"/>
            <a:ext cx="5286375" cy="132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500" y="5524500"/>
            <a:ext cx="17145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2"/>
          <p:cNvSpPr txBox="1"/>
          <p:nvPr/>
        </p:nvSpPr>
        <p:spPr>
          <a:xfrm>
            <a:off x="571500" y="2964358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pic>
        <p:nvPicPr>
          <p:cNvPr id="415" name="Google Shape;415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5125" y="870049"/>
            <a:ext cx="4524375" cy="4175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2"/>
          <p:cNvSpPr txBox="1"/>
          <p:nvPr/>
        </p:nvSpPr>
        <p:spPr>
          <a:xfrm>
            <a:off x="6715125" y="5264199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Course Finished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Thank you for your participation!</a:t>
            </a:r>
            <a:endParaRPr/>
          </a:p>
        </p:txBody>
      </p:sp>
      <p:sp>
        <p:nvSpPr>
          <p:cNvPr id="417" name="Google Shape;417;p32"/>
          <p:cNvSpPr txBox="1"/>
          <p:nvPr/>
        </p:nvSpPr>
        <p:spPr>
          <a:xfrm>
            <a:off x="781050" y="4206329"/>
            <a:ext cx="4867275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mongodump --db myDb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mongorestore --db myDb /dump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439340" y="1821358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  <p:sp>
        <p:nvSpPr>
          <p:cNvPr id="419" name="Google Shape;419;p32"/>
          <p:cNvSpPr txBox="1"/>
          <p:nvPr/>
        </p:nvSpPr>
        <p:spPr>
          <a:xfrm>
            <a:off x="659368" y="3920579"/>
            <a:ext cx="511063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Backup Essentials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6BE77-188D-6B6D-EF66-5768D053F7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8" y="217538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E54E49-4C11-7589-E8AB-F31C47FA45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5496" y="192137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3"/>
          <p:cNvSpPr/>
          <p:nvPr/>
        </p:nvSpPr>
        <p:spPr>
          <a:xfrm>
            <a:off x="571500" y="15223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571500" y="23071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571500" y="30919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571500" y="38766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571500" y="46614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571500" y="22976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571500" y="22976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571500" y="5436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71500" y="5436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717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/>
          <p:cNvSpPr txBox="1"/>
          <p:nvPr/>
        </p:nvSpPr>
        <p:spPr>
          <a:xfrm>
            <a:off x="1666875" y="16652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https://www.nti.sci.eg/images/logo.png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1666875" y="19109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www.nti.sci.eg</a:t>
            </a:r>
            <a:endParaRPr/>
          </a:p>
        </p:txBody>
      </p:sp>
      <p:pic>
        <p:nvPicPr>
          <p:cNvPr id="443" name="Google Shape;443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565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3"/>
          <p:cNvSpPr txBox="1"/>
          <p:nvPr/>
        </p:nvSpPr>
        <p:spPr>
          <a:xfrm>
            <a:off x="1666875" y="24500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https://media.geeksforgeeks.org/wp-content/uploads/20231107111719/MongoDB-Architecture.png</a:t>
            </a:r>
            <a:endParaRPr/>
          </a:p>
        </p:txBody>
      </p:sp>
      <p:sp>
        <p:nvSpPr>
          <p:cNvPr id="445" name="Google Shape;445;p33"/>
          <p:cNvSpPr txBox="1"/>
          <p:nvPr/>
        </p:nvSpPr>
        <p:spPr>
          <a:xfrm>
            <a:off x="1666875" y="26957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446" name="Google Shape;44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13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3"/>
          <p:cNvSpPr txBox="1"/>
          <p:nvPr/>
        </p:nvSpPr>
        <p:spPr>
          <a:xfrm>
            <a:off x="1666875" y="32347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https://miro.medium.com/0*jThgXou1RZ6hPiq6.jpg</a:t>
            </a:r>
            <a:endParaRPr/>
          </a:p>
        </p:txBody>
      </p:sp>
      <p:sp>
        <p:nvSpPr>
          <p:cNvPr id="448" name="Google Shape;448;p33"/>
          <p:cNvSpPr txBox="1"/>
          <p:nvPr/>
        </p:nvSpPr>
        <p:spPr>
          <a:xfrm>
            <a:off x="1666875" y="34804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coderiksenthil.medium.com</a:t>
            </a:r>
            <a:endParaRPr/>
          </a:p>
        </p:txBody>
      </p:sp>
      <p:pic>
        <p:nvPicPr>
          <p:cNvPr id="449" name="Google Shape;449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260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3"/>
          <p:cNvSpPr txBox="1"/>
          <p:nvPr/>
        </p:nvSpPr>
        <p:spPr>
          <a:xfrm>
            <a:off x="1666875" y="40195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https://cdn.educba.com/academy/wp-content/uploads/2018/11/JSON-vs-BSON.jpg</a:t>
            </a:r>
            <a:endParaRPr/>
          </a:p>
        </p:txBody>
      </p:sp>
      <p:sp>
        <p:nvSpPr>
          <p:cNvPr id="451" name="Google Shape;451;p33"/>
          <p:cNvSpPr txBox="1"/>
          <p:nvPr/>
        </p:nvSpPr>
        <p:spPr>
          <a:xfrm>
            <a:off x="1666875" y="42652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www.educba.com</a:t>
            </a:r>
            <a:endParaRPr/>
          </a:p>
        </p:txBody>
      </p:sp>
      <p:pic>
        <p:nvPicPr>
          <p:cNvPr id="452" name="Google Shape;452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108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1666875" y="48043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https://media.geeksforgeeks.org/wp-content/uploads/20220523175518/CRUDOperations.png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1666875" y="50500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455" name="Google Shape;455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5956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/>
        </p:nvSpPr>
        <p:spPr>
          <a:xfrm>
            <a:off x="1666875" y="55890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https://marionoioso.com/wp-content/uploads/2026/02/MongoDB-Data-Modeling-The-Truth-About-Relationships-Data-Duplication-and-Performance.jpg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1666875" y="583480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marionoioso.com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719137" y="8715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495300" y="84750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E880B-075A-AABC-1CC9-DC2430CFD7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37" y="30284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6E233-9FC4-BE3D-47A2-4786DE594C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5999" y="199510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4"/>
          <p:cNvSpPr/>
          <p:nvPr/>
        </p:nvSpPr>
        <p:spPr>
          <a:xfrm>
            <a:off x="571500" y="26994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571500" y="34842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88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1666875" y="28423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https://cdn.prod.website-files.com/6717800cb1e973b8fc433b03/6717800cb1e973b8fc434341_670199f49cd01719054e968c_T8LWGtLjMYc0avFy.gif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1666875" y="30880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www.mydbops.com</a:t>
            </a:r>
            <a:endParaRPr/>
          </a:p>
        </p:txBody>
      </p:sp>
      <p:pic>
        <p:nvPicPr>
          <p:cNvPr id="474" name="Google Shape;47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36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4"/>
          <p:cNvSpPr txBox="1"/>
          <p:nvPr/>
        </p:nvSpPr>
        <p:spPr>
          <a:xfrm>
            <a:off x="1666875" y="36270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https://i.sstatic.net/m2tBs.png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1666875" y="38728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id="477" name="Google Shape;47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184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4"/>
          <p:cNvSpPr txBox="1"/>
          <p:nvPr/>
        </p:nvSpPr>
        <p:spPr>
          <a:xfrm>
            <a:off x="1666875" y="44118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https://www.scaler.com/topics/images/mongodb-restore-command_thumbnail.webp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1666875" y="46575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www.scaler.com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790575" y="82465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dirty="0"/>
          </a:p>
        </p:txBody>
      </p:sp>
      <p:sp>
        <p:nvSpPr>
          <p:cNvPr id="481" name="Google Shape;481;p34"/>
          <p:cNvSpPr/>
          <p:nvPr/>
        </p:nvSpPr>
        <p:spPr>
          <a:xfrm>
            <a:off x="571500" y="885526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74E26-F2A8-1050-A3D0-3B81F5C94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5831" y="17010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3C782-8D88-24A4-CF3A-4F5D698FB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" y="49410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642</Words>
  <Application>Microsoft Office PowerPoint</Application>
  <PresentationFormat>Widescreen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Lato</vt:lpstr>
      <vt:lpstr>Lato Light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Ahmad Mohamd Foaad</cp:lastModifiedBy>
  <cp:revision>2</cp:revision>
  <dcterms:modified xsi:type="dcterms:W3CDTF">2026-06-29T19:18:13Z</dcterms:modified>
</cp:coreProperties>
</file>