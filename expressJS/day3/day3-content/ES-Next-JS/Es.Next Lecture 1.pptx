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429000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0" y="1714499"/>
                </a:moveTo>
                <a:lnTo>
                  <a:pt x="9143999" y="1714499"/>
                </a:lnTo>
                <a:lnTo>
                  <a:pt x="9143999" y="0"/>
                </a:lnTo>
                <a:lnTo>
                  <a:pt x="0" y="0"/>
                </a:lnTo>
                <a:lnTo>
                  <a:pt x="0" y="1714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9" y="3428999"/>
                </a:moveTo>
                <a:lnTo>
                  <a:pt x="0" y="3428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08736" y="464810"/>
            <a:ext cx="2526526" cy="2463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66666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66666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344539"/>
            <a:ext cx="2882900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52550"/>
            <a:ext cx="7524750" cy="3168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66666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9235">
              <a:lnSpc>
                <a:spcPct val="100000"/>
              </a:lnSpc>
              <a:spcBef>
                <a:spcPts val="100"/>
              </a:spcBef>
            </a:pPr>
            <a:r>
              <a:rPr sz="8000" spc="-1745" dirty="0"/>
              <a:t>E</a:t>
            </a:r>
            <a:r>
              <a:rPr sz="8000" cap="small" spc="-1745" dirty="0"/>
              <a:t>s</a:t>
            </a:r>
            <a:r>
              <a:rPr sz="8000" spc="-1745" dirty="0"/>
              <a:t>.N</a:t>
            </a:r>
            <a:r>
              <a:rPr sz="8000" cap="small" spc="-1745" dirty="0"/>
              <a:t>e</a:t>
            </a:r>
            <a:r>
              <a:rPr sz="8000" spc="-1745" dirty="0"/>
              <a:t>x</a:t>
            </a:r>
            <a:r>
              <a:rPr sz="8000" cap="small" spc="-1745" dirty="0"/>
              <a:t>t</a:t>
            </a:r>
            <a:r>
              <a:rPr sz="8000" spc="-1745" dirty="0"/>
              <a:t> </a:t>
            </a:r>
            <a:r>
              <a:rPr sz="8000" spc="-1685" dirty="0"/>
              <a:t>L</a:t>
            </a:r>
            <a:r>
              <a:rPr sz="8000" cap="small" spc="-1685" dirty="0"/>
              <a:t>ecture</a:t>
            </a:r>
            <a:r>
              <a:rPr sz="8000" spc="-930" dirty="0"/>
              <a:t> </a:t>
            </a:r>
            <a:r>
              <a:rPr sz="8000" spc="-3010" dirty="0"/>
              <a:t>1</a:t>
            </a:r>
            <a:endParaRPr sz="8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38934-BAF0-4AA4-EA1D-779FC6E0E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BEA4F2-9450-12A0-2550-4F6675783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D24626-225A-9A7F-610E-BD759B8E4DE4}"/>
              </a:ext>
            </a:extLst>
          </p:cNvPr>
          <p:cNvSpPr txBox="1"/>
          <p:nvPr/>
        </p:nvSpPr>
        <p:spPr>
          <a:xfrm>
            <a:off x="2286000" y="4019471"/>
            <a:ext cx="4572000" cy="483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National Telecommunication Institute</a:t>
            </a:r>
            <a:endParaRPr lang="en-US" dirty="0"/>
          </a:p>
        </p:txBody>
      </p:sp>
      <p:sp>
        <p:nvSpPr>
          <p:cNvPr id="8" name="Google Shape;89;p13">
            <a:extLst>
              <a:ext uri="{FF2B5EF4-FFF2-40B4-BE49-F238E27FC236}">
                <a16:creationId xmlns:a16="http://schemas.microsoft.com/office/drawing/2014/main" id="{CB0C9964-A86E-02D8-3187-45E8D6E52FC5}"/>
              </a:ext>
            </a:extLst>
          </p:cNvPr>
          <p:cNvSpPr txBox="1"/>
          <p:nvPr/>
        </p:nvSpPr>
        <p:spPr>
          <a:xfrm>
            <a:off x="1828800" y="4491930"/>
            <a:ext cx="6794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Ministry of Communications and Information Technology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90" dirty="0"/>
              <a:t>A</a:t>
            </a:r>
            <a:r>
              <a:rPr cap="small" spc="-790" dirty="0"/>
              <a:t>genda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dirty="0"/>
              <a:t>Introduction</a:t>
            </a:r>
            <a:r>
              <a:rPr spc="-5" dirty="0"/>
              <a:t> </a:t>
            </a:r>
            <a:r>
              <a:rPr dirty="0"/>
              <a:t>about</a:t>
            </a:r>
            <a:r>
              <a:rPr spc="-5" dirty="0"/>
              <a:t> </a:t>
            </a:r>
            <a:r>
              <a:rPr spc="-10" dirty="0"/>
              <a:t>ES.Next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dirty="0"/>
              <a:t>Const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25" dirty="0"/>
              <a:t>let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dirty="0"/>
              <a:t>New</a:t>
            </a:r>
            <a:r>
              <a:rPr spc="-5" dirty="0"/>
              <a:t> </a:t>
            </a:r>
            <a:r>
              <a:rPr dirty="0"/>
              <a:t>String</a:t>
            </a:r>
            <a:r>
              <a:rPr spc="-5" dirty="0"/>
              <a:t> </a:t>
            </a:r>
            <a:r>
              <a:rPr dirty="0"/>
              <a:t>Methods(startswith</a:t>
            </a:r>
            <a:r>
              <a:rPr spc="-5" dirty="0"/>
              <a:t> </a:t>
            </a:r>
            <a:r>
              <a:rPr dirty="0"/>
              <a:t>,</a:t>
            </a:r>
            <a:r>
              <a:rPr spc="-5" dirty="0"/>
              <a:t> </a:t>
            </a:r>
            <a:r>
              <a:rPr dirty="0"/>
              <a:t>endswith</a:t>
            </a:r>
            <a:r>
              <a:rPr spc="-5" dirty="0"/>
              <a:t> </a:t>
            </a:r>
            <a:r>
              <a:rPr dirty="0"/>
              <a:t>,</a:t>
            </a:r>
            <a:r>
              <a:rPr spc="-5" dirty="0"/>
              <a:t> </a:t>
            </a:r>
            <a:r>
              <a:rPr spc="-10" dirty="0"/>
              <a:t>includes)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dirty="0"/>
              <a:t>Template</a:t>
            </a:r>
            <a:r>
              <a:rPr spc="-5" dirty="0"/>
              <a:t> </a:t>
            </a:r>
            <a:r>
              <a:rPr dirty="0"/>
              <a:t>Literals</a:t>
            </a:r>
            <a:r>
              <a:rPr spc="-5" dirty="0"/>
              <a:t> </a:t>
            </a:r>
            <a:r>
              <a:rPr dirty="0"/>
              <a:t>(Template</a:t>
            </a:r>
            <a:r>
              <a:rPr spc="-5" dirty="0"/>
              <a:t> </a:t>
            </a:r>
            <a:r>
              <a:rPr spc="-10" dirty="0"/>
              <a:t>Strings)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dirty="0"/>
              <a:t>Arrow</a:t>
            </a:r>
            <a:r>
              <a:rPr spc="-15" dirty="0"/>
              <a:t> </a:t>
            </a:r>
            <a:r>
              <a:rPr spc="-10" dirty="0"/>
              <a:t>function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pc="-10" dirty="0"/>
              <a:t>Destructuring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dirty="0"/>
              <a:t>Rest</a:t>
            </a:r>
            <a:r>
              <a:rPr spc="-5" dirty="0"/>
              <a:t> </a:t>
            </a:r>
            <a:r>
              <a:rPr dirty="0"/>
              <a:t>parameter</a:t>
            </a:r>
            <a:r>
              <a:rPr spc="-5" dirty="0"/>
              <a:t> </a:t>
            </a:r>
            <a:r>
              <a:rPr dirty="0"/>
              <a:t>,</a:t>
            </a:r>
            <a:r>
              <a:rPr spc="-5" dirty="0"/>
              <a:t> </a:t>
            </a:r>
            <a:r>
              <a:rPr dirty="0"/>
              <a:t>Spread</a:t>
            </a:r>
            <a:r>
              <a:rPr spc="-5" dirty="0"/>
              <a:t> </a:t>
            </a:r>
            <a:r>
              <a:rPr spc="-10" dirty="0"/>
              <a:t>Operator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dirty="0"/>
              <a:t>Default</a:t>
            </a:r>
            <a:r>
              <a:rPr spc="-15" dirty="0"/>
              <a:t> </a:t>
            </a:r>
            <a:r>
              <a:rPr spc="-10" dirty="0"/>
              <a:t>Parameters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dirty="0"/>
              <a:t>New</a:t>
            </a:r>
            <a:r>
              <a:rPr spc="-5" dirty="0"/>
              <a:t> </a:t>
            </a:r>
            <a:r>
              <a:rPr dirty="0"/>
              <a:t>Array</a:t>
            </a:r>
            <a:r>
              <a:rPr spc="-5" dirty="0"/>
              <a:t> </a:t>
            </a:r>
            <a:r>
              <a:rPr dirty="0"/>
              <a:t>Methods</a:t>
            </a:r>
            <a:r>
              <a:rPr spc="-5" dirty="0"/>
              <a:t> </a:t>
            </a:r>
            <a:r>
              <a:rPr dirty="0"/>
              <a:t>(filter</a:t>
            </a:r>
            <a:r>
              <a:rPr spc="-5" dirty="0"/>
              <a:t> </a:t>
            </a:r>
            <a:r>
              <a:rPr dirty="0"/>
              <a:t>,</a:t>
            </a:r>
            <a:r>
              <a:rPr spc="-5" dirty="0"/>
              <a:t> </a:t>
            </a:r>
            <a:r>
              <a:rPr dirty="0"/>
              <a:t>find</a:t>
            </a:r>
            <a:r>
              <a:rPr spc="-5" dirty="0"/>
              <a:t> </a:t>
            </a:r>
            <a:r>
              <a:rPr dirty="0"/>
              <a:t>,</a:t>
            </a:r>
            <a:r>
              <a:rPr spc="-5" dirty="0"/>
              <a:t> </a:t>
            </a:r>
            <a:r>
              <a:rPr dirty="0"/>
              <a:t>findIndex</a:t>
            </a:r>
            <a:r>
              <a:rPr spc="-5" dirty="0"/>
              <a:t> </a:t>
            </a:r>
            <a:r>
              <a:rPr dirty="0"/>
              <a:t>,</a:t>
            </a:r>
            <a:r>
              <a:rPr spc="-5" dirty="0"/>
              <a:t> </a:t>
            </a:r>
            <a:r>
              <a:rPr spc="-20" dirty="0"/>
              <a:t>map)</a:t>
            </a: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dirty="0"/>
              <a:t>For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0" dirty="0"/>
              <a:t>loop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B648D-A025-C680-1D1D-26B7CB9B4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F2B177-AAC8-F20F-B0E8-CAE66DF42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250" y="230224"/>
            <a:ext cx="1525270" cy="54864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spc="-695" dirty="0"/>
              <a:t>C</a:t>
            </a:r>
            <a:r>
              <a:rPr sz="3600" cap="small" spc="-695" dirty="0"/>
              <a:t>onst</a:t>
            </a:r>
            <a:r>
              <a:rPr sz="3600" spc="-420" dirty="0"/>
              <a:t> </a:t>
            </a:r>
            <a:r>
              <a:rPr sz="3600" spc="-815" dirty="0"/>
              <a:t>&amp;</a:t>
            </a:r>
            <a:r>
              <a:rPr sz="3600" spc="-415" dirty="0"/>
              <a:t> </a:t>
            </a:r>
            <a:r>
              <a:rPr sz="3600" cap="small" spc="-825" dirty="0"/>
              <a:t>let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85050" y="958511"/>
            <a:ext cx="3561079" cy="3892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6364">
              <a:lnSpc>
                <a:spcPct val="113300"/>
              </a:lnSpc>
              <a:spcBef>
                <a:spcPts val="100"/>
              </a:spcBef>
            </a:pPr>
            <a:r>
              <a:rPr sz="1600" b="1" i="1" spc="-10" dirty="0">
                <a:solidFill>
                  <a:srgbClr val="292929"/>
                </a:solidFill>
                <a:latin typeface="Courier New"/>
                <a:cs typeface="Courier New"/>
              </a:rPr>
              <a:t>-</a:t>
            </a:r>
            <a:r>
              <a:rPr sz="1600" b="1" i="1" dirty="0">
                <a:solidFill>
                  <a:srgbClr val="292929"/>
                </a:solidFill>
                <a:latin typeface="Courier New"/>
                <a:cs typeface="Courier New"/>
              </a:rPr>
              <a:t>`let`</a:t>
            </a:r>
            <a:r>
              <a:rPr sz="1600" b="1" i="1" spc="-4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is</a:t>
            </a:r>
            <a:r>
              <a:rPr sz="1600" spc="-4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a</a:t>
            </a:r>
            <a:r>
              <a:rPr sz="1600" spc="-4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signal</a:t>
            </a:r>
            <a:r>
              <a:rPr sz="1600" spc="-4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that</a:t>
            </a:r>
            <a:r>
              <a:rPr sz="1600" spc="-4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292929"/>
                </a:solidFill>
                <a:latin typeface="Courier New"/>
                <a:cs typeface="Courier New"/>
              </a:rPr>
              <a:t>the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variable</a:t>
            </a:r>
            <a:r>
              <a:rPr sz="1600" spc="-5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may</a:t>
            </a:r>
            <a:r>
              <a:rPr sz="1600" spc="-4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be</a:t>
            </a:r>
            <a:r>
              <a:rPr sz="1600" spc="-5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Courier New"/>
                <a:cs typeface="Courier New"/>
              </a:rPr>
              <a:t>reassigned,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such</a:t>
            </a:r>
            <a:r>
              <a:rPr sz="1600" spc="-3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as</a:t>
            </a:r>
            <a:r>
              <a:rPr sz="1600" spc="-3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a</a:t>
            </a:r>
            <a:r>
              <a:rPr sz="1600" spc="-3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counter</a:t>
            </a:r>
            <a:r>
              <a:rPr sz="1600" spc="-3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in</a:t>
            </a:r>
            <a:r>
              <a:rPr sz="1600" spc="-3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a</a:t>
            </a:r>
            <a:r>
              <a:rPr sz="1600" spc="-3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Courier New"/>
                <a:cs typeface="Courier New"/>
              </a:rPr>
              <a:t>loop,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or</a:t>
            </a:r>
            <a:r>
              <a:rPr sz="1600" spc="-3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a</a:t>
            </a:r>
            <a:r>
              <a:rPr sz="1600" spc="-3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value</a:t>
            </a:r>
            <a:r>
              <a:rPr sz="1600" spc="-3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swap</a:t>
            </a:r>
            <a:r>
              <a:rPr sz="1600" spc="-3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in</a:t>
            </a:r>
            <a:r>
              <a:rPr sz="1600" spc="-3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292929"/>
                </a:solidFill>
                <a:latin typeface="Courier New"/>
                <a:cs typeface="Courier New"/>
              </a:rPr>
              <a:t>an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algorithm.</a:t>
            </a:r>
            <a:r>
              <a:rPr sz="1600" spc="-6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It</a:t>
            </a:r>
            <a:r>
              <a:rPr sz="1600" spc="-5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also</a:t>
            </a:r>
            <a:r>
              <a:rPr sz="1600" spc="-5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Courier New"/>
                <a:cs typeface="Courier New"/>
              </a:rPr>
              <a:t>signals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that</a:t>
            </a:r>
            <a:r>
              <a:rPr sz="1600" spc="-5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the</a:t>
            </a:r>
            <a:r>
              <a:rPr sz="1600" spc="-5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variable</a:t>
            </a:r>
            <a:r>
              <a:rPr sz="1600" spc="-5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will</a:t>
            </a:r>
            <a:r>
              <a:rPr sz="1600" spc="-5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292929"/>
                </a:solidFill>
                <a:latin typeface="Courier New"/>
                <a:cs typeface="Courier New"/>
              </a:rPr>
              <a:t>be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used</a:t>
            </a:r>
            <a:r>
              <a:rPr sz="1600" spc="-4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only</a:t>
            </a:r>
            <a:r>
              <a:rPr sz="1600" spc="-4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in</a:t>
            </a:r>
            <a:r>
              <a:rPr sz="1600" spc="-4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the</a:t>
            </a:r>
            <a:r>
              <a:rPr sz="1600" spc="-4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block</a:t>
            </a:r>
            <a:r>
              <a:rPr sz="1600" spc="-4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Courier New"/>
                <a:cs typeface="Courier New"/>
              </a:rPr>
              <a:t>it’s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defined</a:t>
            </a:r>
            <a:r>
              <a:rPr sz="1600" spc="-5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in,</a:t>
            </a:r>
            <a:r>
              <a:rPr sz="1600" spc="-4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which</a:t>
            </a:r>
            <a:r>
              <a:rPr sz="1600" spc="-4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is</a:t>
            </a:r>
            <a:r>
              <a:rPr sz="1600" spc="-4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292929"/>
                </a:solidFill>
                <a:latin typeface="Courier New"/>
                <a:cs typeface="Courier New"/>
              </a:rPr>
              <a:t>not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always</a:t>
            </a:r>
            <a:r>
              <a:rPr sz="1600" spc="-5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the</a:t>
            </a:r>
            <a:r>
              <a:rPr sz="1600" spc="-5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entire</a:t>
            </a:r>
            <a:r>
              <a:rPr sz="1600" spc="-5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Courier New"/>
                <a:cs typeface="Courier New"/>
              </a:rPr>
              <a:t>containing function.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ct val="113300"/>
              </a:lnSpc>
            </a:pPr>
            <a:r>
              <a:rPr sz="1600" i="1" spc="-10" dirty="0">
                <a:solidFill>
                  <a:srgbClr val="292929"/>
                </a:solidFill>
                <a:latin typeface="Courier New"/>
                <a:cs typeface="Courier New"/>
              </a:rPr>
              <a:t>-</a:t>
            </a:r>
            <a:r>
              <a:rPr sz="1600" i="1" dirty="0">
                <a:solidFill>
                  <a:srgbClr val="292929"/>
                </a:solidFill>
                <a:latin typeface="Courier New"/>
                <a:cs typeface="Courier New"/>
              </a:rPr>
              <a:t>`</a:t>
            </a:r>
            <a:r>
              <a:rPr sz="1600" b="1" i="1" dirty="0">
                <a:solidFill>
                  <a:srgbClr val="292929"/>
                </a:solidFill>
                <a:latin typeface="Courier New"/>
                <a:cs typeface="Courier New"/>
              </a:rPr>
              <a:t>const</a:t>
            </a:r>
            <a:r>
              <a:rPr sz="1600" i="1" dirty="0">
                <a:solidFill>
                  <a:srgbClr val="292929"/>
                </a:solidFill>
                <a:latin typeface="Courier New"/>
                <a:cs typeface="Courier New"/>
              </a:rPr>
              <a:t>`</a:t>
            </a:r>
            <a:r>
              <a:rPr sz="1600" i="1" spc="-5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is</a:t>
            </a:r>
            <a:r>
              <a:rPr sz="1600" spc="-4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a</a:t>
            </a:r>
            <a:r>
              <a:rPr sz="1600" spc="-4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signal</a:t>
            </a:r>
            <a:r>
              <a:rPr sz="1600" spc="-4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that</a:t>
            </a:r>
            <a:r>
              <a:rPr sz="1600" spc="-4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292929"/>
                </a:solidFill>
                <a:latin typeface="Courier New"/>
                <a:cs typeface="Courier New"/>
              </a:rPr>
              <a:t>the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identifier</a:t>
            </a:r>
            <a:r>
              <a:rPr sz="1600" spc="-8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92929"/>
                </a:solidFill>
                <a:latin typeface="Courier New"/>
                <a:cs typeface="Courier New"/>
              </a:rPr>
              <a:t>won’t</a:t>
            </a:r>
            <a:r>
              <a:rPr sz="1600" spc="-75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292929"/>
                </a:solidFill>
                <a:latin typeface="Courier New"/>
                <a:cs typeface="Courier New"/>
              </a:rPr>
              <a:t>be </a:t>
            </a:r>
            <a:r>
              <a:rPr sz="1600" spc="-10" dirty="0">
                <a:solidFill>
                  <a:srgbClr val="292929"/>
                </a:solidFill>
                <a:latin typeface="Courier New"/>
                <a:cs typeface="Courier New"/>
              </a:rPr>
              <a:t>reassigned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0850" y="316724"/>
            <a:ext cx="4638466" cy="4065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A861B2-8865-E544-1F1E-F9B52DCED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E894E9-618A-DB91-9A16-F3305EBE9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250" y="230224"/>
            <a:ext cx="2595880" cy="54864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spc="-875" dirty="0"/>
              <a:t>N</a:t>
            </a:r>
            <a:r>
              <a:rPr sz="3600" cap="small" spc="-875" dirty="0"/>
              <a:t>ew</a:t>
            </a:r>
            <a:r>
              <a:rPr sz="3600" spc="-430" dirty="0"/>
              <a:t> </a:t>
            </a:r>
            <a:r>
              <a:rPr sz="3600" spc="-535" dirty="0"/>
              <a:t>S</a:t>
            </a:r>
            <a:r>
              <a:rPr sz="3600" cap="small" spc="-535" dirty="0"/>
              <a:t>tring</a:t>
            </a:r>
            <a:r>
              <a:rPr sz="3600" spc="-430" dirty="0"/>
              <a:t> </a:t>
            </a:r>
            <a:r>
              <a:rPr sz="3600" spc="-835" dirty="0"/>
              <a:t>M</a:t>
            </a:r>
            <a:r>
              <a:rPr sz="3600" cap="small" spc="-835" dirty="0"/>
              <a:t>ethods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519640" y="1011725"/>
            <a:ext cx="1463040" cy="243840"/>
          </a:xfrm>
          <a:custGeom>
            <a:avLst/>
            <a:gdLst/>
            <a:ahLst/>
            <a:cxnLst/>
            <a:rect l="l" t="t" r="r" b="b"/>
            <a:pathLst>
              <a:path w="1463039" h="243840">
                <a:moveTo>
                  <a:pt x="1462688" y="243840"/>
                </a:moveTo>
                <a:lnTo>
                  <a:pt x="0" y="243840"/>
                </a:lnTo>
                <a:lnTo>
                  <a:pt x="0" y="0"/>
                </a:lnTo>
                <a:lnTo>
                  <a:pt x="1462688" y="0"/>
                </a:lnTo>
                <a:lnTo>
                  <a:pt x="1462688" y="24384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5050" y="958511"/>
            <a:ext cx="782828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b="1" i="1" spc="-20" dirty="0">
                <a:solidFill>
                  <a:srgbClr val="292929"/>
                </a:solidFill>
                <a:latin typeface="Courier New"/>
                <a:cs typeface="Courier New"/>
              </a:rPr>
              <a:t>-</a:t>
            </a:r>
            <a:r>
              <a:rPr sz="1600" b="1" dirty="0">
                <a:solidFill>
                  <a:srgbClr val="0A0A0A"/>
                </a:solidFill>
                <a:latin typeface="Courier New"/>
                <a:cs typeface="Courier New"/>
              </a:rPr>
              <a:t>startsWith()</a:t>
            </a:r>
            <a:r>
              <a:rPr sz="1600" b="1" spc="-65" dirty="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returns</a:t>
            </a:r>
            <a:r>
              <a:rPr sz="1600" spc="-60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a</a:t>
            </a:r>
            <a:r>
              <a:rPr sz="1600" spc="-60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Boolean</a:t>
            </a:r>
            <a:r>
              <a:rPr sz="1600" spc="-6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1B2733"/>
                </a:solidFill>
                <a:latin typeface="Courier New"/>
                <a:cs typeface="Courier New"/>
              </a:rPr>
              <a:t>value—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true</a:t>
            </a:r>
            <a:r>
              <a:rPr sz="1600" spc="-60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or</a:t>
            </a:r>
            <a:r>
              <a:rPr sz="1600" spc="-60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1B2733"/>
                </a:solidFill>
                <a:latin typeface="Courier New"/>
                <a:cs typeface="Courier New"/>
              </a:rPr>
              <a:t>false—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depending</a:t>
            </a:r>
            <a:r>
              <a:rPr sz="1600" spc="-60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1B2733"/>
                </a:solidFill>
                <a:latin typeface="Courier New"/>
                <a:cs typeface="Courier New"/>
              </a:rPr>
              <a:t>on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whether</a:t>
            </a:r>
            <a:r>
              <a:rPr sz="1600" spc="-5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the</a:t>
            </a:r>
            <a:r>
              <a:rPr sz="1600" spc="-5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string</a:t>
            </a:r>
            <a:r>
              <a:rPr sz="1600" spc="-50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starts</a:t>
            </a:r>
            <a:r>
              <a:rPr sz="1600" spc="-5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with</a:t>
            </a:r>
            <a:r>
              <a:rPr sz="1600" spc="-5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the</a:t>
            </a:r>
            <a:r>
              <a:rPr sz="1600" spc="-50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substring</a:t>
            </a:r>
            <a:r>
              <a:rPr sz="1600" spc="-5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you</a:t>
            </a:r>
            <a:r>
              <a:rPr sz="1600" spc="-50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have</a:t>
            </a:r>
            <a:r>
              <a:rPr sz="1600" spc="-5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1B2733"/>
                </a:solidFill>
                <a:latin typeface="Courier New"/>
                <a:cs typeface="Courier New"/>
              </a:rPr>
              <a:t>specified.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9640" y="1840400"/>
            <a:ext cx="1231900" cy="243840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600" b="1" spc="-10" dirty="0">
                <a:solidFill>
                  <a:srgbClr val="0A0A0A"/>
                </a:solidFill>
                <a:latin typeface="Courier New"/>
                <a:cs typeface="Courier New"/>
              </a:rPr>
              <a:t>endsWith()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5050" y="1819572"/>
            <a:ext cx="417067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5105" algn="l"/>
              </a:tabLst>
            </a:pPr>
            <a:r>
              <a:rPr sz="1600" i="1" spc="-50" dirty="0">
                <a:solidFill>
                  <a:srgbClr val="292929"/>
                </a:solidFill>
                <a:latin typeface="Courier New"/>
                <a:cs typeface="Courier New"/>
              </a:rPr>
              <a:t>-</a:t>
            </a:r>
            <a:r>
              <a:rPr sz="1600" i="1" dirty="0">
                <a:solidFill>
                  <a:srgbClr val="292929"/>
                </a:solidFill>
                <a:latin typeface="Courier New"/>
                <a:cs typeface="Courier New"/>
              </a:rPr>
              <a:t>	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is</a:t>
            </a:r>
            <a:r>
              <a:rPr sz="1600" spc="-4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the</a:t>
            </a:r>
            <a:r>
              <a:rPr sz="1600" spc="-40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opposite</a:t>
            </a:r>
            <a:r>
              <a:rPr sz="1600" spc="-40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of</a:t>
            </a:r>
            <a:r>
              <a:rPr sz="1600" spc="-40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1B2733"/>
                </a:solidFill>
                <a:latin typeface="Courier New"/>
                <a:cs typeface="Courier New"/>
              </a:rPr>
              <a:t>the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3923" y="1840400"/>
            <a:ext cx="1475740" cy="243840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600" spc="-10" dirty="0">
                <a:solidFill>
                  <a:srgbClr val="0A0A0A"/>
                </a:solidFill>
                <a:latin typeface="Courier New"/>
                <a:cs typeface="Courier New"/>
              </a:rPr>
              <a:t>startsWith()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35831" y="1819572"/>
            <a:ext cx="13665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method.</a:t>
            </a:r>
            <a:r>
              <a:rPr sz="1600" spc="-7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1B2733"/>
                </a:solidFill>
                <a:latin typeface="Courier New"/>
                <a:cs typeface="Courier New"/>
              </a:rPr>
              <a:t>The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7750" y="2116625"/>
            <a:ext cx="1219200" cy="243840"/>
          </a:xfrm>
          <a:custGeom>
            <a:avLst/>
            <a:gdLst/>
            <a:ahLst/>
            <a:cxnLst/>
            <a:rect l="l" t="t" r="r" b="b"/>
            <a:pathLst>
              <a:path w="1219200" h="243839">
                <a:moveTo>
                  <a:pt x="1218906" y="243839"/>
                </a:moveTo>
                <a:lnTo>
                  <a:pt x="0" y="243839"/>
                </a:lnTo>
                <a:lnTo>
                  <a:pt x="0" y="0"/>
                </a:lnTo>
                <a:lnTo>
                  <a:pt x="1218906" y="0"/>
                </a:lnTo>
                <a:lnTo>
                  <a:pt x="1218906" y="243839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5050" y="2063412"/>
            <a:ext cx="8315959" cy="168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7000">
              <a:lnSpc>
                <a:spcPct val="113300"/>
              </a:lnSpc>
              <a:spcBef>
                <a:spcPts val="100"/>
              </a:spcBef>
            </a:pPr>
            <a:r>
              <a:rPr sz="1600" dirty="0">
                <a:solidFill>
                  <a:srgbClr val="0A0A0A"/>
                </a:solidFill>
                <a:latin typeface="Courier New"/>
                <a:cs typeface="Courier New"/>
              </a:rPr>
              <a:t>endsWith()</a:t>
            </a:r>
            <a:r>
              <a:rPr sz="1600" spc="-60" dirty="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method</a:t>
            </a:r>
            <a:r>
              <a:rPr sz="1600" spc="-5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determines</a:t>
            </a:r>
            <a:r>
              <a:rPr sz="1600" spc="-60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if</a:t>
            </a:r>
            <a:r>
              <a:rPr sz="1600" spc="-5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a</a:t>
            </a:r>
            <a:r>
              <a:rPr sz="1600" spc="-5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string</a:t>
            </a:r>
            <a:r>
              <a:rPr sz="1600" spc="-60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ends</a:t>
            </a:r>
            <a:r>
              <a:rPr sz="1600" spc="-5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with</a:t>
            </a:r>
            <a:r>
              <a:rPr sz="1600" spc="-60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a</a:t>
            </a:r>
            <a:r>
              <a:rPr sz="1600" spc="-5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particular</a:t>
            </a:r>
            <a:r>
              <a:rPr sz="1600" spc="-5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1B2733"/>
                </a:solidFill>
                <a:latin typeface="Courier New"/>
                <a:cs typeface="Courier New"/>
              </a:rPr>
              <a:t>set </a:t>
            </a:r>
            <a:r>
              <a:rPr sz="1600" dirty="0">
                <a:solidFill>
                  <a:srgbClr val="1B2733"/>
                </a:solidFill>
                <a:latin typeface="Courier New"/>
                <a:cs typeface="Courier New"/>
              </a:rPr>
              <a:t>of</a:t>
            </a:r>
            <a:r>
              <a:rPr sz="1600" spc="-25" dirty="0">
                <a:solidFill>
                  <a:srgbClr val="1B2733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1B2733"/>
                </a:solidFill>
                <a:latin typeface="Courier New"/>
                <a:cs typeface="Courier New"/>
              </a:rPr>
              <a:t>characters.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ct val="113300"/>
              </a:lnSpc>
            </a:pPr>
            <a:r>
              <a:rPr sz="1600" spc="-20" dirty="0">
                <a:solidFill>
                  <a:srgbClr val="1B2733"/>
                </a:solidFill>
                <a:latin typeface="Courier New"/>
                <a:cs typeface="Courier New"/>
              </a:rPr>
              <a:t>-</a:t>
            </a:r>
            <a:r>
              <a:rPr sz="1600" b="1" dirty="0">
                <a:solidFill>
                  <a:srgbClr val="212121"/>
                </a:solidFill>
                <a:latin typeface="Courier New"/>
                <a:cs typeface="Courier New"/>
              </a:rPr>
              <a:t>includes()</a:t>
            </a:r>
            <a:r>
              <a:rPr sz="1600" b="1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method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returns</a:t>
            </a:r>
            <a:r>
              <a:rPr sz="1600" spc="-5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true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if</a:t>
            </a:r>
            <a:r>
              <a:rPr sz="1600" spc="-5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an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array</a:t>
            </a:r>
            <a:r>
              <a:rPr sz="1600" spc="-5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contains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a</a:t>
            </a:r>
            <a:r>
              <a:rPr sz="1600" spc="-5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212121"/>
                </a:solidFill>
                <a:latin typeface="Courier New"/>
                <a:cs typeface="Courier New"/>
              </a:rPr>
              <a:t>specified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value.The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includes()</a:t>
            </a:r>
            <a:r>
              <a:rPr sz="1600" spc="-6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method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returns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false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if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the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value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is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not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212121"/>
                </a:solidFill>
                <a:latin typeface="Courier New"/>
                <a:cs typeface="Courier New"/>
              </a:rPr>
              <a:t>found.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The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includes()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method</a:t>
            </a:r>
            <a:r>
              <a:rPr sz="1600" spc="-50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is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12121"/>
                </a:solidFill>
                <a:latin typeface="Courier New"/>
                <a:cs typeface="Courier New"/>
              </a:rPr>
              <a:t>case</a:t>
            </a:r>
            <a:r>
              <a:rPr sz="1600" spc="-5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212121"/>
                </a:solidFill>
                <a:latin typeface="Courier New"/>
                <a:cs typeface="Courier New"/>
              </a:rPr>
              <a:t>sensitive.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67E4E5-4CBB-EBBC-3370-CFFB3C5C3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7150"/>
            <a:ext cx="762000" cy="3750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488847-32B4-9F5E-7AA1-6E900B3E4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425" y="378575"/>
            <a:ext cx="2562225" cy="640080"/>
          </a:xfrm>
          <a:custGeom>
            <a:avLst/>
            <a:gdLst/>
            <a:ahLst/>
            <a:cxnLst/>
            <a:rect l="l" t="t" r="r" b="b"/>
            <a:pathLst>
              <a:path w="2562225" h="640080">
                <a:moveTo>
                  <a:pt x="2561919" y="640080"/>
                </a:moveTo>
                <a:lnTo>
                  <a:pt x="0" y="640080"/>
                </a:lnTo>
                <a:lnTo>
                  <a:pt x="0" y="0"/>
                </a:lnTo>
                <a:lnTo>
                  <a:pt x="2561919" y="0"/>
                </a:lnTo>
                <a:lnTo>
                  <a:pt x="2561919" y="640080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15" dirty="0"/>
              <a:t>T</a:t>
            </a:r>
            <a:r>
              <a:rPr cap="small" spc="-815" dirty="0"/>
              <a:t>emplate</a:t>
            </a:r>
            <a:r>
              <a:rPr spc="-475" dirty="0"/>
              <a:t> </a:t>
            </a:r>
            <a:r>
              <a:rPr spc="-800" dirty="0"/>
              <a:t>L</a:t>
            </a:r>
            <a:r>
              <a:rPr cap="small" spc="-800" dirty="0"/>
              <a:t>iterals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9700" y="1731500"/>
            <a:ext cx="6882974" cy="2212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405FF3-E1AE-0CF6-F976-FB0981042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E1D37B-DEDF-5F9F-2F0D-442EE987E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699" y="255050"/>
            <a:ext cx="3864610" cy="464439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4200">
              <a:latin typeface="Times New Roman"/>
              <a:cs typeface="Times New Roman"/>
            </a:endParaRPr>
          </a:p>
          <a:p>
            <a:pPr marL="687705">
              <a:lnSpc>
                <a:spcPct val="100000"/>
              </a:lnSpc>
            </a:pPr>
            <a:r>
              <a:rPr sz="4200" b="1" spc="-1420" dirty="0">
                <a:solidFill>
                  <a:srgbClr val="212121"/>
                </a:solidFill>
                <a:latin typeface="Trebuchet MS"/>
                <a:cs typeface="Trebuchet MS"/>
              </a:rPr>
              <a:t>ARROW</a:t>
            </a:r>
            <a:r>
              <a:rPr sz="4200" b="1" spc="-484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4200" b="1" spc="-675" dirty="0">
                <a:solidFill>
                  <a:srgbClr val="212121"/>
                </a:solidFill>
                <a:latin typeface="Trebuchet MS"/>
                <a:cs typeface="Trebuchet MS"/>
              </a:rPr>
              <a:t>F</a:t>
            </a:r>
            <a:r>
              <a:rPr sz="4200" b="1" cap="small" spc="-675" dirty="0">
                <a:solidFill>
                  <a:srgbClr val="212121"/>
                </a:solidFill>
                <a:latin typeface="Trebuchet MS"/>
                <a:cs typeface="Trebuchet MS"/>
              </a:rPr>
              <a:t>unction</a:t>
            </a:r>
            <a:endParaRPr sz="4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0750" y="2209880"/>
            <a:ext cx="4815299" cy="194301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343775" y="378097"/>
            <a:ext cx="429260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An</a:t>
            </a:r>
            <a:r>
              <a:rPr sz="1600" b="0" spc="-60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arrow</a:t>
            </a:r>
            <a:r>
              <a:rPr sz="1600" b="0" spc="-55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function</a:t>
            </a:r>
            <a:r>
              <a:rPr sz="1600" b="0" spc="-60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expression</a:t>
            </a:r>
            <a:r>
              <a:rPr sz="1600" b="0" spc="-55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is</a:t>
            </a:r>
            <a:r>
              <a:rPr sz="1600" b="0" spc="-55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spc="-50" dirty="0">
                <a:solidFill>
                  <a:srgbClr val="1B1B1B"/>
                </a:solidFill>
                <a:latin typeface="Courier New"/>
                <a:cs typeface="Courier New"/>
              </a:rPr>
              <a:t>a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compact</a:t>
            </a:r>
            <a:r>
              <a:rPr sz="1600" b="0" spc="-70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alternative</a:t>
            </a:r>
            <a:r>
              <a:rPr sz="1600" b="0" spc="-70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to</a:t>
            </a:r>
            <a:r>
              <a:rPr sz="1600" b="0" spc="-70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spc="-50" dirty="0">
                <a:solidFill>
                  <a:srgbClr val="1B1B1B"/>
                </a:solidFill>
                <a:latin typeface="Courier New"/>
                <a:cs typeface="Courier New"/>
              </a:rPr>
              <a:t>a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traditional</a:t>
            </a:r>
            <a:r>
              <a:rPr sz="1600" b="0" spc="-100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function</a:t>
            </a:r>
            <a:r>
              <a:rPr sz="1600" b="0" spc="-95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spc="-10" dirty="0">
                <a:solidFill>
                  <a:srgbClr val="1B1B1B"/>
                </a:solidFill>
                <a:latin typeface="Courier New"/>
                <a:cs typeface="Courier New"/>
              </a:rPr>
              <a:t>expression,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but</a:t>
            </a:r>
            <a:r>
              <a:rPr sz="1600" b="0" spc="-45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is</a:t>
            </a:r>
            <a:r>
              <a:rPr sz="1600" b="0" spc="-40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limited</a:t>
            </a:r>
            <a:r>
              <a:rPr sz="1600" b="0" spc="-40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and</a:t>
            </a:r>
            <a:r>
              <a:rPr sz="1600" b="0" spc="-40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can't</a:t>
            </a:r>
            <a:r>
              <a:rPr sz="1600" b="0" spc="-40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be</a:t>
            </a:r>
            <a:r>
              <a:rPr sz="1600" b="0" spc="-40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used</a:t>
            </a:r>
            <a:r>
              <a:rPr sz="1600" b="0" spc="-45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spc="-25" dirty="0">
                <a:solidFill>
                  <a:srgbClr val="1B1B1B"/>
                </a:solidFill>
                <a:latin typeface="Courier New"/>
                <a:cs typeface="Courier New"/>
              </a:rPr>
              <a:t>in </a:t>
            </a:r>
            <a:r>
              <a:rPr sz="1600" b="0" dirty="0">
                <a:solidFill>
                  <a:srgbClr val="1B1B1B"/>
                </a:solidFill>
                <a:latin typeface="Courier New"/>
                <a:cs typeface="Courier New"/>
              </a:rPr>
              <a:t>all</a:t>
            </a:r>
            <a:r>
              <a:rPr sz="1600" b="0" spc="-35" dirty="0">
                <a:solidFill>
                  <a:srgbClr val="1B1B1B"/>
                </a:solidFill>
                <a:latin typeface="Courier New"/>
                <a:cs typeface="Courier New"/>
              </a:rPr>
              <a:t> </a:t>
            </a:r>
            <a:r>
              <a:rPr sz="1600" b="0" spc="-10" dirty="0">
                <a:solidFill>
                  <a:srgbClr val="1B1B1B"/>
                </a:solidFill>
                <a:latin typeface="Courier New"/>
                <a:cs typeface="Courier New"/>
              </a:rPr>
              <a:t>situations.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568ECC-16C1-A6BC-0561-23160EE3C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4C31F4-9FD0-3022-81C6-64CB5C054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425" y="378575"/>
            <a:ext cx="2167890" cy="640080"/>
          </a:xfrm>
          <a:custGeom>
            <a:avLst/>
            <a:gdLst/>
            <a:ahLst/>
            <a:cxnLst/>
            <a:rect l="l" t="t" r="r" b="b"/>
            <a:pathLst>
              <a:path w="2167890" h="640080">
                <a:moveTo>
                  <a:pt x="2167737" y="640080"/>
                </a:moveTo>
                <a:lnTo>
                  <a:pt x="0" y="640080"/>
                </a:lnTo>
                <a:lnTo>
                  <a:pt x="0" y="0"/>
                </a:lnTo>
                <a:lnTo>
                  <a:pt x="2167737" y="0"/>
                </a:lnTo>
                <a:lnTo>
                  <a:pt x="2167737" y="640080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70" dirty="0"/>
              <a:t>D</a:t>
            </a:r>
            <a:r>
              <a:rPr cap="small" spc="-770" dirty="0"/>
              <a:t>estructuring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6862" y="1702772"/>
            <a:ext cx="5898139" cy="25090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46AA89-04DB-14C5-4705-E3948A2BA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18844D-DD0D-E878-258E-A8D3567D0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425" y="378575"/>
            <a:ext cx="5137150" cy="64008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70"/>
              </a:lnSpc>
            </a:pPr>
            <a:r>
              <a:rPr spc="-935" dirty="0"/>
              <a:t>R</a:t>
            </a:r>
            <a:r>
              <a:rPr cap="small" spc="-935" dirty="0"/>
              <a:t>est</a:t>
            </a:r>
            <a:r>
              <a:rPr spc="-484" dirty="0"/>
              <a:t> </a:t>
            </a:r>
            <a:r>
              <a:rPr spc="-805" dirty="0"/>
              <a:t>P</a:t>
            </a:r>
            <a:r>
              <a:rPr cap="small" spc="-805" dirty="0"/>
              <a:t>arameters</a:t>
            </a:r>
            <a:r>
              <a:rPr spc="-484" dirty="0"/>
              <a:t> </a:t>
            </a:r>
            <a:r>
              <a:rPr spc="-950" dirty="0"/>
              <a:t>&amp;</a:t>
            </a:r>
            <a:r>
              <a:rPr spc="-484" dirty="0"/>
              <a:t> </a:t>
            </a:r>
            <a:r>
              <a:rPr spc="-795" dirty="0"/>
              <a:t>S</a:t>
            </a:r>
            <a:r>
              <a:rPr cap="small" spc="-795" dirty="0"/>
              <a:t>pread</a:t>
            </a:r>
            <a:r>
              <a:rPr spc="-484" dirty="0"/>
              <a:t> </a:t>
            </a:r>
            <a:r>
              <a:rPr spc="-955" dirty="0"/>
              <a:t>O</a:t>
            </a:r>
            <a:r>
              <a:rPr cap="small" spc="-955" dirty="0"/>
              <a:t>perator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97986"/>
            <a:ext cx="795020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b="1" dirty="0">
                <a:solidFill>
                  <a:srgbClr val="202124"/>
                </a:solidFill>
                <a:latin typeface="Courier New"/>
                <a:cs typeface="Courier New"/>
              </a:rPr>
              <a:t>The</a:t>
            </a:r>
            <a:r>
              <a:rPr sz="1600" b="1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202124"/>
                </a:solidFill>
                <a:latin typeface="Courier New"/>
                <a:cs typeface="Courier New"/>
              </a:rPr>
              <a:t>spread</a:t>
            </a:r>
            <a:r>
              <a:rPr sz="1600" b="1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202124"/>
                </a:solidFill>
                <a:latin typeface="Courier New"/>
                <a:cs typeface="Courier New"/>
              </a:rPr>
              <a:t>operator</a:t>
            </a:r>
            <a:r>
              <a:rPr sz="1600" b="1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allows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us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to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spread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the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value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of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an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array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202124"/>
                </a:solidFill>
                <a:latin typeface="Courier New"/>
                <a:cs typeface="Courier New"/>
              </a:rPr>
              <a:t>(or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any</a:t>
            </a:r>
            <a:r>
              <a:rPr sz="1600" spc="-5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iterable)</a:t>
            </a:r>
            <a:r>
              <a:rPr sz="1600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across</a:t>
            </a:r>
            <a:r>
              <a:rPr sz="1600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zero</a:t>
            </a:r>
            <a:r>
              <a:rPr sz="1600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or</a:t>
            </a:r>
            <a:r>
              <a:rPr sz="1600" spc="-5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more</a:t>
            </a:r>
            <a:r>
              <a:rPr sz="1600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arguments</a:t>
            </a:r>
            <a:r>
              <a:rPr sz="1600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in</a:t>
            </a:r>
            <a:r>
              <a:rPr sz="1600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</a:t>
            </a:r>
            <a:r>
              <a:rPr sz="1600" spc="-5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function</a:t>
            </a:r>
            <a:r>
              <a:rPr sz="1600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202124"/>
                </a:solidFill>
                <a:latin typeface="Courier New"/>
                <a:cs typeface="Courier New"/>
              </a:rPr>
              <a:t>or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elements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in</a:t>
            </a:r>
            <a:r>
              <a:rPr sz="1600" spc="-4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an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array</a:t>
            </a:r>
            <a:r>
              <a:rPr sz="1600" spc="-4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(or</a:t>
            </a:r>
            <a:r>
              <a:rPr sz="1600" spc="-4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any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202124"/>
                </a:solidFill>
                <a:latin typeface="Courier New"/>
                <a:cs typeface="Courier New"/>
              </a:rPr>
              <a:t>iterable).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745787"/>
            <a:ext cx="734060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b="1" dirty="0">
                <a:solidFill>
                  <a:srgbClr val="202124"/>
                </a:solidFill>
                <a:latin typeface="Courier New"/>
                <a:cs typeface="Courier New"/>
              </a:rPr>
              <a:t>The</a:t>
            </a:r>
            <a:r>
              <a:rPr sz="1600" b="1" spc="-5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202124"/>
                </a:solidFill>
                <a:latin typeface="Courier New"/>
                <a:cs typeface="Courier New"/>
              </a:rPr>
              <a:t>rest</a:t>
            </a:r>
            <a:r>
              <a:rPr sz="1600" b="1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202124"/>
                </a:solidFill>
                <a:latin typeface="Courier New"/>
                <a:cs typeface="Courier New"/>
              </a:rPr>
              <a:t>parameter</a:t>
            </a:r>
            <a:r>
              <a:rPr sz="1600" b="1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allows</a:t>
            </a:r>
            <a:r>
              <a:rPr sz="1600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us</a:t>
            </a:r>
            <a:r>
              <a:rPr sz="1600" spc="-5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to</a:t>
            </a:r>
            <a:r>
              <a:rPr sz="1600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pass</a:t>
            </a:r>
            <a:r>
              <a:rPr sz="1600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an</a:t>
            </a:r>
            <a:r>
              <a:rPr sz="1600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indefinite</a:t>
            </a:r>
            <a:r>
              <a:rPr sz="1600" spc="-5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number</a:t>
            </a:r>
            <a:r>
              <a:rPr sz="1600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25" dirty="0">
                <a:solidFill>
                  <a:srgbClr val="202124"/>
                </a:solidFill>
                <a:latin typeface="Courier New"/>
                <a:cs typeface="Courier New"/>
              </a:rPr>
              <a:t>of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parameters</a:t>
            </a:r>
            <a:r>
              <a:rPr sz="1600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to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function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and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access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them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in</a:t>
            </a:r>
            <a:r>
              <a:rPr sz="1600" spc="-50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202124"/>
                </a:solidFill>
                <a:latin typeface="Courier New"/>
                <a:cs typeface="Courier New"/>
              </a:rPr>
              <a:t>an</a:t>
            </a:r>
            <a:r>
              <a:rPr sz="1600" spc="-45" dirty="0">
                <a:solidFill>
                  <a:srgbClr val="202124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202124"/>
                </a:solidFill>
                <a:latin typeface="Courier New"/>
                <a:cs typeface="Courier New"/>
              </a:rPr>
              <a:t>array.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C7D99-B5DB-45D5-42D9-EC1CD6194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D7A910-29E6-11C5-6980-E14B27F4E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425" y="378575"/>
            <a:ext cx="2856865" cy="640080"/>
          </a:xfrm>
          <a:custGeom>
            <a:avLst/>
            <a:gdLst/>
            <a:ahLst/>
            <a:cxnLst/>
            <a:rect l="l" t="t" r="r" b="b"/>
            <a:pathLst>
              <a:path w="2856865" h="640080">
                <a:moveTo>
                  <a:pt x="2856357" y="640080"/>
                </a:moveTo>
                <a:lnTo>
                  <a:pt x="0" y="640080"/>
                </a:lnTo>
                <a:lnTo>
                  <a:pt x="0" y="0"/>
                </a:lnTo>
                <a:lnTo>
                  <a:pt x="2856357" y="0"/>
                </a:lnTo>
                <a:lnTo>
                  <a:pt x="2856357" y="640080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75" dirty="0"/>
              <a:t>D</a:t>
            </a:r>
            <a:r>
              <a:rPr cap="small" spc="-875" dirty="0"/>
              <a:t>efault</a:t>
            </a:r>
            <a:r>
              <a:rPr spc="-495" dirty="0"/>
              <a:t> </a:t>
            </a:r>
            <a:r>
              <a:rPr spc="-840" dirty="0"/>
              <a:t>P</a:t>
            </a:r>
            <a:r>
              <a:rPr cap="small" spc="-840" dirty="0"/>
              <a:t>arameters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275" y="1688100"/>
            <a:ext cx="7972424" cy="23526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5FA579-9B6D-66EA-FDAB-69E283D81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0806BB-3980-B025-7899-B47834B57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425" y="378575"/>
            <a:ext cx="2834640" cy="64008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70"/>
              </a:lnSpc>
            </a:pPr>
            <a:r>
              <a:rPr spc="-1000" dirty="0"/>
              <a:t>N</a:t>
            </a:r>
            <a:r>
              <a:rPr cap="small" spc="-1000" dirty="0"/>
              <a:t>ew</a:t>
            </a:r>
            <a:r>
              <a:rPr spc="-490" dirty="0"/>
              <a:t> </a:t>
            </a:r>
            <a:r>
              <a:rPr spc="-919" dirty="0"/>
              <a:t>A</a:t>
            </a:r>
            <a:r>
              <a:rPr cap="small" spc="-919" dirty="0"/>
              <a:t>rray</a:t>
            </a:r>
            <a:r>
              <a:rPr spc="-490" dirty="0"/>
              <a:t> </a:t>
            </a:r>
            <a:r>
              <a:rPr spc="-919" dirty="0"/>
              <a:t>M</a:t>
            </a:r>
            <a:r>
              <a:rPr cap="small" spc="-919" dirty="0"/>
              <a:t>ethods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925" y="2120775"/>
            <a:ext cx="3446198" cy="2871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09900" y="2120775"/>
            <a:ext cx="3446198" cy="28718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73450" y="1227906"/>
            <a:ext cx="848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filter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79490" y="1227906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vs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2570" y="1227906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map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B8D316-4494-C28A-86E0-ABC36B82F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3752E8-8BAA-CCE6-9F65-0D59D25856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425" y="378575"/>
            <a:ext cx="912494" cy="640080"/>
          </a:xfrm>
          <a:custGeom>
            <a:avLst/>
            <a:gdLst/>
            <a:ahLst/>
            <a:cxnLst/>
            <a:rect l="l" t="t" r="r" b="b"/>
            <a:pathLst>
              <a:path w="912494" h="640080">
                <a:moveTo>
                  <a:pt x="912114" y="640080"/>
                </a:moveTo>
                <a:lnTo>
                  <a:pt x="0" y="640080"/>
                </a:lnTo>
                <a:lnTo>
                  <a:pt x="0" y="0"/>
                </a:lnTo>
                <a:lnTo>
                  <a:pt x="912114" y="0"/>
                </a:lnTo>
                <a:lnTo>
                  <a:pt x="912114" y="640080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10" dirty="0"/>
              <a:t>F</a:t>
            </a:r>
            <a:r>
              <a:rPr cap="small" spc="-1010" dirty="0"/>
              <a:t>or</a:t>
            </a:r>
            <a:r>
              <a:rPr spc="-490" dirty="0"/>
              <a:t> </a:t>
            </a:r>
            <a:r>
              <a:rPr cap="small" spc="-944" dirty="0"/>
              <a:t>of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627" y="1902502"/>
            <a:ext cx="7857775" cy="21511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700BFA-661C-2840-0EDC-AEF19AC43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632E8F-4D36-B61C-FC3E-02D4B6784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3429000"/>
              <a:ext cx="9144000" cy="1714500"/>
            </a:xfrm>
            <a:custGeom>
              <a:avLst/>
              <a:gdLst/>
              <a:ahLst/>
              <a:cxnLst/>
              <a:rect l="l" t="t" r="r" b="b"/>
              <a:pathLst>
                <a:path w="9144000" h="1714500">
                  <a:moveTo>
                    <a:pt x="0" y="1714499"/>
                  </a:moveTo>
                  <a:lnTo>
                    <a:pt x="9143999" y="1714499"/>
                  </a:lnTo>
                  <a:lnTo>
                    <a:pt x="9143999" y="0"/>
                  </a:lnTo>
                  <a:lnTo>
                    <a:pt x="0" y="0"/>
                  </a:lnTo>
                  <a:lnTo>
                    <a:pt x="0" y="17144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3999" y="3428999"/>
                  </a:moveTo>
                  <a:lnTo>
                    <a:pt x="0" y="3428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82179" y="1074410"/>
            <a:ext cx="298005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-1570" dirty="0"/>
              <a:t>T</a:t>
            </a:r>
            <a:r>
              <a:rPr sz="8000" cap="small" spc="-1570" dirty="0"/>
              <a:t>hank</a:t>
            </a:r>
            <a:r>
              <a:rPr sz="8000" spc="-940" dirty="0"/>
              <a:t> </a:t>
            </a:r>
            <a:r>
              <a:rPr sz="8000" cap="small" spc="-1714" dirty="0"/>
              <a:t>you</a:t>
            </a:r>
            <a:endParaRPr sz="8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B910D9-657D-30BD-0380-7619402DB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5137"/>
            <a:ext cx="762000" cy="3750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82B17F-977D-76CA-3549-34B4424B6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19" y="65137"/>
            <a:ext cx="762000" cy="3631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330</Words>
  <Application>Microsoft Office PowerPoint</Application>
  <PresentationFormat>On-screen Show (16:9)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Courier New</vt:lpstr>
      <vt:lpstr>Lato</vt:lpstr>
      <vt:lpstr>Microsoft Sans Serif</vt:lpstr>
      <vt:lpstr>Times New Roman</vt:lpstr>
      <vt:lpstr>Trebuchet MS</vt:lpstr>
      <vt:lpstr>Office Theme</vt:lpstr>
      <vt:lpstr>Es.Next Lecture 1</vt:lpstr>
      <vt:lpstr>Agenda</vt:lpstr>
      <vt:lpstr>Const &amp; let</vt:lpstr>
      <vt:lpstr>New String Methods</vt:lpstr>
      <vt:lpstr>Template Literals</vt:lpstr>
      <vt:lpstr>An arrow function expression is a compact alternative to a traditional function expression, but is limited and can't be used in all situations.</vt:lpstr>
      <vt:lpstr>Destructuring</vt:lpstr>
      <vt:lpstr>Rest Parameters &amp; Spread Operator</vt:lpstr>
      <vt:lpstr>Default Parameters</vt:lpstr>
      <vt:lpstr>New Array Methods</vt:lpstr>
      <vt:lpstr>For of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Es.Next Lecture 1</dc:title>
  <dc:creator>heba ali</dc:creator>
  <cp:lastModifiedBy>Ahmad Mohamd Foaad</cp:lastModifiedBy>
  <cp:revision>2</cp:revision>
  <dcterms:created xsi:type="dcterms:W3CDTF">2024-11-09T06:58:52Z</dcterms:created>
  <dcterms:modified xsi:type="dcterms:W3CDTF">2026-07-03T11:55:32Z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