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9144000" cy="5143500"/>
  <p:defaultTextStyle>
    <a:defPPr>
      <a:defRPr lang="ar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72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3429000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0" y="1714499"/>
                </a:moveTo>
                <a:lnTo>
                  <a:pt x="9143999" y="1714499"/>
                </a:lnTo>
                <a:lnTo>
                  <a:pt x="9143999" y="0"/>
                </a:lnTo>
                <a:lnTo>
                  <a:pt x="0" y="0"/>
                </a:lnTo>
                <a:lnTo>
                  <a:pt x="0" y="1714499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3999" y="3428999"/>
                </a:moveTo>
                <a:lnTo>
                  <a:pt x="0" y="34289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3428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71395" y="464810"/>
            <a:ext cx="2601209" cy="2463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1" i="0">
                <a:solidFill>
                  <a:srgbClr val="21212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1" i="0">
                <a:solidFill>
                  <a:srgbClr val="21212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1" i="0">
                <a:solidFill>
                  <a:srgbClr val="21212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81765" y="1074410"/>
            <a:ext cx="2980469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1" i="0">
                <a:solidFill>
                  <a:srgbClr val="21212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8725" y="1445572"/>
            <a:ext cx="8626549" cy="1732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71644" y="464810"/>
            <a:ext cx="2600960" cy="2463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66700">
              <a:lnSpc>
                <a:spcPct val="100000"/>
              </a:lnSpc>
              <a:spcBef>
                <a:spcPts val="100"/>
              </a:spcBef>
            </a:pPr>
            <a:r>
              <a:rPr sz="8000" b="1" spc="-1880" dirty="0">
                <a:solidFill>
                  <a:srgbClr val="212121"/>
                </a:solidFill>
                <a:latin typeface="Trebuchet MS"/>
                <a:cs typeface="Trebuchet MS"/>
              </a:rPr>
              <a:t>Es.Nex</a:t>
            </a:r>
            <a:r>
              <a:rPr sz="8000" b="1" cap="small" spc="-1870" dirty="0">
                <a:solidFill>
                  <a:srgbClr val="212121"/>
                </a:solidFill>
                <a:latin typeface="Trebuchet MS"/>
                <a:cs typeface="Trebuchet MS"/>
              </a:rPr>
              <a:t>t</a:t>
            </a:r>
            <a:r>
              <a:rPr sz="8000" b="1" spc="-11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8000" b="1" spc="-2205" dirty="0">
                <a:solidFill>
                  <a:srgbClr val="212121"/>
                </a:solidFill>
                <a:latin typeface="Trebuchet MS"/>
                <a:cs typeface="Trebuchet MS"/>
              </a:rPr>
              <a:t>Lec</a:t>
            </a:r>
            <a:r>
              <a:rPr sz="8000" b="1" cap="small" spc="-1870" dirty="0">
                <a:solidFill>
                  <a:srgbClr val="212121"/>
                </a:solidFill>
                <a:latin typeface="Trebuchet MS"/>
                <a:cs typeface="Trebuchet MS"/>
              </a:rPr>
              <a:t>t</a:t>
            </a:r>
            <a:r>
              <a:rPr sz="8000" b="1" spc="-2235" dirty="0">
                <a:solidFill>
                  <a:srgbClr val="212121"/>
                </a:solidFill>
                <a:latin typeface="Trebuchet MS"/>
                <a:cs typeface="Trebuchet MS"/>
              </a:rPr>
              <a:t>uRe</a:t>
            </a:r>
            <a:r>
              <a:rPr sz="8000" b="1" spc="-9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8000" b="1" spc="-1945" dirty="0">
                <a:solidFill>
                  <a:srgbClr val="212121"/>
                </a:solidFill>
                <a:latin typeface="Trebuchet MS"/>
                <a:cs typeface="Trebuchet MS"/>
              </a:rPr>
              <a:t>2</a:t>
            </a:r>
            <a:endParaRPr sz="8000">
              <a:latin typeface="Trebuchet MS"/>
              <a:cs typeface="Trebuchet MS"/>
            </a:endParaRPr>
          </a:p>
        </p:txBody>
      </p:sp>
      <p:sp>
        <p:nvSpPr>
          <p:cNvPr id="5" name="Google Shape;89;p13">
            <a:extLst>
              <a:ext uri="{FF2B5EF4-FFF2-40B4-BE49-F238E27FC236}">
                <a16:creationId xmlns:a16="http://schemas.microsoft.com/office/drawing/2014/main" id="{7571F42D-2B4E-7580-D842-F23AA66C78E7}"/>
              </a:ext>
            </a:extLst>
          </p:cNvPr>
          <p:cNvSpPr txBox="1"/>
          <p:nvPr/>
        </p:nvSpPr>
        <p:spPr>
          <a:xfrm>
            <a:off x="1828800" y="4491930"/>
            <a:ext cx="6794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Ministry of Communications and Information Technology</a:t>
            </a:r>
            <a:endParaRPr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8C87F4-6819-1A1C-7F51-F8A25A477F97}"/>
              </a:ext>
            </a:extLst>
          </p:cNvPr>
          <p:cNvSpPr txBox="1"/>
          <p:nvPr/>
        </p:nvSpPr>
        <p:spPr>
          <a:xfrm>
            <a:off x="2286000" y="4019471"/>
            <a:ext cx="4572000" cy="483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National Telecommunication Institute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A1690E9-5E54-E1B9-9369-808ED5481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8119" y="65137"/>
            <a:ext cx="762000" cy="36319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A893140-62BE-0D00-36CE-1589FCB9B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65137"/>
            <a:ext cx="762000" cy="3750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344539"/>
            <a:ext cx="114808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1190" dirty="0"/>
              <a:t>A</a:t>
            </a:r>
            <a:r>
              <a:rPr sz="4200" cap="small" spc="-800" dirty="0"/>
              <a:t>g</a:t>
            </a:r>
            <a:r>
              <a:rPr sz="4200" spc="-894" dirty="0"/>
              <a:t>end</a:t>
            </a:r>
            <a:r>
              <a:rPr sz="4200" cap="small" spc="-869" dirty="0"/>
              <a:t>a</a:t>
            </a:r>
            <a:endParaRPr sz="4200"/>
          </a:p>
        </p:txBody>
      </p:sp>
      <p:sp>
        <p:nvSpPr>
          <p:cNvPr id="3" name="object 3"/>
          <p:cNvSpPr txBox="1"/>
          <p:nvPr/>
        </p:nvSpPr>
        <p:spPr>
          <a:xfrm>
            <a:off x="475249" y="1252550"/>
            <a:ext cx="1901189" cy="159702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Font typeface="Microsoft Sans Serif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Promises</a:t>
            </a:r>
            <a:endParaRPr sz="1800">
              <a:latin typeface="Courier New"/>
              <a:cs typeface="Courier New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Microsoft Sans Serif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oop</a:t>
            </a:r>
            <a:r>
              <a:rPr sz="1800" spc="-5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ES6</a:t>
            </a:r>
            <a:endParaRPr sz="1800">
              <a:latin typeface="Courier New"/>
              <a:cs typeface="Courier New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Microsoft Sans Serif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ES6</a:t>
            </a:r>
            <a:r>
              <a:rPr sz="1800" spc="-5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Modules</a:t>
            </a:r>
            <a:endParaRPr sz="1800">
              <a:latin typeface="Courier New"/>
              <a:cs typeface="Courier New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Microsoft Sans Serif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Set</a:t>
            </a:r>
            <a:endParaRPr sz="1800">
              <a:latin typeface="Courier New"/>
              <a:cs typeface="Courier New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Microsoft Sans Serif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Map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8D6DA6-6880-2452-559F-5B4332685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65137"/>
            <a:ext cx="762000" cy="3750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D01F83-51AC-7907-694C-A26651768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8119" y="57150"/>
            <a:ext cx="762000" cy="3631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0250" y="208452"/>
            <a:ext cx="2214350" cy="548640"/>
          </a:xfrm>
          <a:prstGeom prst="rect">
            <a:avLst/>
          </a:prstGeom>
          <a:solidFill>
            <a:srgbClr val="9FC5E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175"/>
              </a:lnSpc>
            </a:pPr>
            <a:r>
              <a:rPr sz="3600" spc="-1110" dirty="0">
                <a:latin typeface="Arial" panose="020B0604020202020204" pitchFamily="34" charset="0"/>
                <a:cs typeface="Arial" panose="020B0604020202020204" pitchFamily="34" charset="0"/>
              </a:rPr>
              <a:t>PR</a:t>
            </a:r>
            <a:r>
              <a:rPr sz="3600" cap="small" spc="-745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3600" spc="-745" dirty="0">
                <a:latin typeface="Arial" panose="020B0604020202020204" pitchFamily="34" charset="0"/>
                <a:cs typeface="Arial" panose="020B0604020202020204" pitchFamily="34" charset="0"/>
              </a:rPr>
              <a:t>mises</a:t>
            </a: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5050" y="949876"/>
            <a:ext cx="8163559" cy="1911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25755">
              <a:lnSpc>
                <a:spcPct val="114599"/>
              </a:lnSpc>
              <a:spcBef>
                <a:spcPts val="100"/>
              </a:spcBef>
            </a:pPr>
            <a:r>
              <a:rPr sz="1800" spc="-5" dirty="0">
                <a:solidFill>
                  <a:srgbClr val="212121"/>
                </a:solidFill>
                <a:latin typeface="Courier New"/>
                <a:cs typeface="Courier New"/>
              </a:rPr>
              <a:t>The</a:t>
            </a:r>
            <a:r>
              <a:rPr sz="1800" spc="1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urier New"/>
                <a:cs typeface="Courier New"/>
              </a:rPr>
              <a:t>Promise</a:t>
            </a:r>
            <a:r>
              <a:rPr sz="1800" spc="1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urier New"/>
                <a:cs typeface="Courier New"/>
              </a:rPr>
              <a:t>object</a:t>
            </a:r>
            <a:r>
              <a:rPr sz="1800" spc="1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urier New"/>
                <a:cs typeface="Courier New"/>
              </a:rPr>
              <a:t>represents</a:t>
            </a:r>
            <a:r>
              <a:rPr sz="1800" spc="1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urier New"/>
                <a:cs typeface="Courier New"/>
              </a:rPr>
              <a:t>the</a:t>
            </a:r>
            <a:r>
              <a:rPr sz="1800" spc="1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urier New"/>
                <a:cs typeface="Courier New"/>
              </a:rPr>
              <a:t>eventual</a:t>
            </a:r>
            <a:r>
              <a:rPr sz="1800" spc="1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urier New"/>
                <a:cs typeface="Courier New"/>
              </a:rPr>
              <a:t>completion</a:t>
            </a:r>
            <a:r>
              <a:rPr sz="1800" spc="1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urier New"/>
                <a:cs typeface="Courier New"/>
              </a:rPr>
              <a:t>(or </a:t>
            </a:r>
            <a:r>
              <a:rPr sz="1800" spc="-106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urier New"/>
                <a:cs typeface="Courier New"/>
              </a:rPr>
              <a:t>failure)</a:t>
            </a:r>
            <a:r>
              <a:rPr sz="1800" spc="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urier New"/>
                <a:cs typeface="Courier New"/>
              </a:rPr>
              <a:t>of</a:t>
            </a:r>
            <a:r>
              <a:rPr sz="1800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urier New"/>
                <a:cs typeface="Courier New"/>
              </a:rPr>
              <a:t>an</a:t>
            </a:r>
            <a:r>
              <a:rPr sz="1800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urier New"/>
                <a:cs typeface="Courier New"/>
              </a:rPr>
              <a:t>asynchronous</a:t>
            </a:r>
            <a:r>
              <a:rPr sz="1800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urier New"/>
                <a:cs typeface="Courier New"/>
              </a:rPr>
              <a:t>operation</a:t>
            </a:r>
            <a:r>
              <a:rPr sz="1800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urier New"/>
                <a:cs typeface="Courier New"/>
              </a:rPr>
              <a:t>and</a:t>
            </a:r>
            <a:r>
              <a:rPr sz="1800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urier New"/>
                <a:cs typeface="Courier New"/>
              </a:rPr>
              <a:t>its</a:t>
            </a:r>
            <a:r>
              <a:rPr sz="1800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urier New"/>
                <a:cs typeface="Courier New"/>
              </a:rPr>
              <a:t>resulting </a:t>
            </a:r>
            <a:r>
              <a:rPr sz="180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urier New"/>
                <a:cs typeface="Courier New"/>
              </a:rPr>
              <a:t>value.</a:t>
            </a:r>
            <a:endParaRPr sz="1800">
              <a:latin typeface="Courier New"/>
              <a:cs typeface="Courier New"/>
            </a:endParaRPr>
          </a:p>
          <a:p>
            <a:pPr marL="469900" marR="5080" indent="-365760">
              <a:lnSpc>
                <a:spcPct val="114599"/>
              </a:lnSpc>
              <a:buChar char="-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212121"/>
                </a:solidFill>
                <a:latin typeface="Courier New"/>
                <a:cs typeface="Courier New"/>
              </a:rPr>
              <a:t>It’s</a:t>
            </a:r>
            <a:r>
              <a:rPr sz="1800" spc="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urier New"/>
                <a:cs typeface="Courier New"/>
              </a:rPr>
              <a:t>object</a:t>
            </a:r>
            <a:r>
              <a:rPr sz="1800" spc="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urier New"/>
                <a:cs typeface="Courier New"/>
              </a:rPr>
              <a:t>that</a:t>
            </a:r>
            <a:r>
              <a:rPr sz="1800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urier New"/>
                <a:cs typeface="Courier New"/>
              </a:rPr>
              <a:t>is</a:t>
            </a:r>
            <a:r>
              <a:rPr sz="1800" spc="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urier New"/>
                <a:cs typeface="Courier New"/>
              </a:rPr>
              <a:t>used</a:t>
            </a:r>
            <a:r>
              <a:rPr sz="1800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urier New"/>
                <a:cs typeface="Courier New"/>
              </a:rPr>
              <a:t>as</a:t>
            </a:r>
            <a:r>
              <a:rPr sz="1800" spc="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urier New"/>
                <a:cs typeface="Courier New"/>
              </a:rPr>
              <a:t>a</a:t>
            </a:r>
            <a:r>
              <a:rPr sz="1800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urier New"/>
                <a:cs typeface="Courier New"/>
              </a:rPr>
              <a:t>placeholder</a:t>
            </a:r>
            <a:r>
              <a:rPr sz="1800" spc="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urier New"/>
                <a:cs typeface="Courier New"/>
              </a:rPr>
              <a:t>for</a:t>
            </a:r>
            <a:r>
              <a:rPr sz="1800" spc="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urier New"/>
                <a:cs typeface="Courier New"/>
              </a:rPr>
              <a:t>the</a:t>
            </a:r>
            <a:r>
              <a:rPr sz="1800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urier New"/>
                <a:cs typeface="Courier New"/>
              </a:rPr>
              <a:t>future </a:t>
            </a:r>
            <a:r>
              <a:rPr sz="1800" spc="-106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urier New"/>
                <a:cs typeface="Courier New"/>
              </a:rPr>
              <a:t>result of an</a:t>
            </a:r>
            <a:r>
              <a:rPr sz="180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urier New"/>
                <a:cs typeface="Courier New"/>
              </a:rPr>
              <a:t>asynchronous operation</a:t>
            </a:r>
            <a:endParaRPr sz="1800">
              <a:latin typeface="Courier New"/>
              <a:cs typeface="Courier New"/>
            </a:endParaRPr>
          </a:p>
          <a:p>
            <a:pPr marL="469900" indent="-365760">
              <a:lnSpc>
                <a:spcPct val="100000"/>
              </a:lnSpc>
              <a:spcBef>
                <a:spcPts val="315"/>
              </a:spcBef>
              <a:buChar char="-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212121"/>
                </a:solidFill>
                <a:latin typeface="Courier New"/>
                <a:cs typeface="Courier New"/>
              </a:rPr>
              <a:t>We</a:t>
            </a:r>
            <a:r>
              <a:rPr sz="1800" spc="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urier New"/>
                <a:cs typeface="Courier New"/>
              </a:rPr>
              <a:t>can</a:t>
            </a:r>
            <a:r>
              <a:rPr sz="1800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urier New"/>
                <a:cs typeface="Courier New"/>
              </a:rPr>
              <a:t>chain</a:t>
            </a:r>
            <a:r>
              <a:rPr sz="1800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urier New"/>
                <a:cs typeface="Courier New"/>
              </a:rPr>
              <a:t>promises</a:t>
            </a:r>
            <a:r>
              <a:rPr sz="1800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urier New"/>
                <a:cs typeface="Courier New"/>
              </a:rPr>
              <a:t>instead</a:t>
            </a:r>
            <a:r>
              <a:rPr sz="1800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urier New"/>
                <a:cs typeface="Courier New"/>
              </a:rPr>
              <a:t>of</a:t>
            </a:r>
            <a:r>
              <a:rPr sz="1800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urier New"/>
                <a:cs typeface="Courier New"/>
              </a:rPr>
              <a:t>nesting</a:t>
            </a:r>
            <a:r>
              <a:rPr sz="1800" spc="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12121"/>
                </a:solidFill>
                <a:latin typeface="Courier New"/>
                <a:cs typeface="Courier New"/>
              </a:rPr>
              <a:t>callbacks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4700" y="2982375"/>
            <a:ext cx="5944448" cy="20848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E0600E-E2F8-C518-4CD7-7D1C93A6E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65137"/>
            <a:ext cx="762000" cy="3750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4B3B0E-1173-1A76-498D-6FBE8DF84F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8119" y="65137"/>
            <a:ext cx="762000" cy="3631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0250" y="230224"/>
            <a:ext cx="1146810" cy="548640"/>
          </a:xfrm>
          <a:prstGeom prst="rect">
            <a:avLst/>
          </a:prstGeom>
          <a:solidFill>
            <a:srgbClr val="9FC5E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175"/>
              </a:lnSpc>
            </a:pPr>
            <a:r>
              <a:rPr sz="3600" spc="-1110" dirty="0"/>
              <a:t>PR</a:t>
            </a:r>
            <a:r>
              <a:rPr sz="3600" cap="small" spc="-745" dirty="0"/>
              <a:t>o</a:t>
            </a:r>
            <a:r>
              <a:rPr sz="3600" spc="-745" dirty="0"/>
              <a:t>mises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85050" y="962798"/>
            <a:ext cx="3225800" cy="1650364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400" b="1" spc="-5" dirty="0">
                <a:solidFill>
                  <a:srgbClr val="292929"/>
                </a:solidFill>
                <a:latin typeface="Courier New"/>
                <a:cs typeface="Courier New"/>
              </a:rPr>
              <a:t>We can</a:t>
            </a:r>
            <a:r>
              <a:rPr sz="1400" b="1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292929"/>
                </a:solidFill>
                <a:latin typeface="Courier New"/>
                <a:cs typeface="Courier New"/>
              </a:rPr>
              <a:t>handle</a:t>
            </a:r>
            <a:r>
              <a:rPr sz="1400" b="1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292929"/>
                </a:solidFill>
                <a:latin typeface="Courier New"/>
                <a:cs typeface="Courier New"/>
              </a:rPr>
              <a:t>promises</a:t>
            </a:r>
            <a:r>
              <a:rPr sz="1400" b="1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292929"/>
                </a:solidFill>
                <a:latin typeface="Courier New"/>
                <a:cs typeface="Courier New"/>
              </a:rPr>
              <a:t>using</a:t>
            </a:r>
            <a:r>
              <a:rPr sz="1400" b="1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292929"/>
                </a:solidFill>
                <a:latin typeface="Courier New"/>
                <a:cs typeface="Courier New"/>
              </a:rPr>
              <a:t>:</a:t>
            </a:r>
            <a:endParaRPr sz="1400">
              <a:latin typeface="Courier New"/>
              <a:cs typeface="Courier New"/>
            </a:endParaRPr>
          </a:p>
          <a:p>
            <a:pPr marL="469900" indent="-350520">
              <a:lnSpc>
                <a:spcPct val="100000"/>
              </a:lnSpc>
              <a:spcBef>
                <a:spcPts val="260"/>
              </a:spcBef>
              <a:buChar char="-"/>
              <a:tabLst>
                <a:tab pos="469265" algn="l"/>
                <a:tab pos="469900" algn="l"/>
              </a:tabLst>
            </a:pPr>
            <a:r>
              <a:rPr sz="1600" b="1" spc="-5" dirty="0">
                <a:solidFill>
                  <a:srgbClr val="292929"/>
                </a:solidFill>
                <a:latin typeface="Courier New"/>
                <a:cs typeface="Courier New"/>
              </a:rPr>
              <a:t>Then</a:t>
            </a:r>
            <a:r>
              <a:rPr sz="1600" b="1" spc="-3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292929"/>
                </a:solidFill>
                <a:latin typeface="Courier New"/>
                <a:cs typeface="Courier New"/>
              </a:rPr>
              <a:t>,</a:t>
            </a:r>
            <a:r>
              <a:rPr sz="1600" b="1" spc="-25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292929"/>
                </a:solidFill>
                <a:latin typeface="Courier New"/>
                <a:cs typeface="Courier New"/>
              </a:rPr>
              <a:t>catch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292929"/>
              </a:buClr>
              <a:buFont typeface="Courier New"/>
              <a:buChar char="-"/>
            </a:pPr>
            <a:endParaRPr sz="2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solidFill>
                  <a:srgbClr val="292929"/>
                </a:solidFill>
                <a:latin typeface="Courier New"/>
                <a:cs typeface="Courier New"/>
              </a:rPr>
              <a:t>Or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100">
              <a:latin typeface="Courier New"/>
              <a:cs typeface="Courier New"/>
            </a:endParaRPr>
          </a:p>
          <a:p>
            <a:pPr marL="469900" indent="-350520">
              <a:lnSpc>
                <a:spcPct val="100000"/>
              </a:lnSpc>
              <a:buChar char="-"/>
              <a:tabLst>
                <a:tab pos="469265" algn="l"/>
                <a:tab pos="469900" algn="l"/>
              </a:tabLst>
            </a:pPr>
            <a:r>
              <a:rPr sz="1600" b="1" spc="-5" dirty="0">
                <a:solidFill>
                  <a:srgbClr val="292929"/>
                </a:solidFill>
                <a:latin typeface="Courier New"/>
                <a:cs typeface="Courier New"/>
              </a:rPr>
              <a:t>Async</a:t>
            </a:r>
            <a:r>
              <a:rPr sz="1600" b="1" spc="-25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292929"/>
                </a:solidFill>
                <a:latin typeface="Courier New"/>
                <a:cs typeface="Courier New"/>
              </a:rPr>
              <a:t>,</a:t>
            </a:r>
            <a:r>
              <a:rPr sz="1600" b="1" spc="-25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292929"/>
                </a:solidFill>
                <a:latin typeface="Courier New"/>
                <a:cs typeface="Courier New"/>
              </a:rPr>
              <a:t>await</a:t>
            </a:r>
            <a:endParaRPr sz="160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8600" y="1515550"/>
            <a:ext cx="5358849" cy="30143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BE6D84-5E78-A8F7-AD5D-119E0B7D4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65137"/>
            <a:ext cx="762000" cy="3750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446248-0F5A-1853-1B01-96EC735F66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8119" y="65137"/>
            <a:ext cx="762000" cy="3631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7425" y="378575"/>
            <a:ext cx="2076450" cy="640080"/>
          </a:xfrm>
          <a:prstGeom prst="rect">
            <a:avLst/>
          </a:prstGeom>
          <a:solidFill>
            <a:srgbClr val="9FC5E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70"/>
              </a:lnSpc>
            </a:pPr>
            <a:r>
              <a:rPr sz="4200" spc="-1155" dirty="0"/>
              <a:t>C</a:t>
            </a:r>
            <a:r>
              <a:rPr sz="4200" cap="small" spc="-800" dirty="0"/>
              <a:t>la</a:t>
            </a:r>
            <a:r>
              <a:rPr sz="4200" spc="-885" dirty="0"/>
              <a:t>sses</a:t>
            </a:r>
            <a:r>
              <a:rPr sz="4200" spc="-500" dirty="0"/>
              <a:t> </a:t>
            </a:r>
            <a:r>
              <a:rPr sz="4200" spc="-390" dirty="0"/>
              <a:t>in</a:t>
            </a:r>
            <a:r>
              <a:rPr sz="4200" spc="-500" dirty="0"/>
              <a:t> </a:t>
            </a:r>
            <a:r>
              <a:rPr sz="4200" spc="-1120" dirty="0"/>
              <a:t>ES6</a:t>
            </a:r>
            <a:endParaRPr sz="42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12225" y="1215450"/>
            <a:ext cx="4272038" cy="37448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8725" y="1445572"/>
            <a:ext cx="3804920" cy="1732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212121"/>
                </a:solidFill>
                <a:latin typeface="Courier New"/>
                <a:cs typeface="Courier New"/>
              </a:rPr>
              <a:t>Classes are in</a:t>
            </a:r>
            <a:r>
              <a:rPr sz="160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urier New"/>
                <a:cs typeface="Courier New"/>
              </a:rPr>
              <a:t>fact "special </a:t>
            </a:r>
            <a:r>
              <a:rPr sz="160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urier New"/>
                <a:cs typeface="Courier New"/>
              </a:rPr>
              <a:t>function", and</a:t>
            </a:r>
            <a:r>
              <a:rPr sz="160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urier New"/>
                <a:cs typeface="Courier New"/>
              </a:rPr>
              <a:t>just</a:t>
            </a:r>
            <a:r>
              <a:rPr sz="160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urier New"/>
                <a:cs typeface="Courier New"/>
              </a:rPr>
              <a:t>as you</a:t>
            </a:r>
            <a:r>
              <a:rPr sz="160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urier New"/>
                <a:cs typeface="Courier New"/>
              </a:rPr>
              <a:t>can </a:t>
            </a:r>
            <a:r>
              <a:rPr sz="160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urier New"/>
                <a:cs typeface="Courier New"/>
              </a:rPr>
              <a:t>define</a:t>
            </a:r>
            <a:r>
              <a:rPr sz="1600" spc="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urier New"/>
                <a:cs typeface="Courier New"/>
              </a:rPr>
              <a:t>function</a:t>
            </a:r>
            <a:r>
              <a:rPr sz="1600" spc="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urier New"/>
                <a:cs typeface="Courier New"/>
              </a:rPr>
              <a:t>expressions</a:t>
            </a:r>
            <a:r>
              <a:rPr sz="1600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urier New"/>
                <a:cs typeface="Courier New"/>
              </a:rPr>
              <a:t>and </a:t>
            </a:r>
            <a:r>
              <a:rPr sz="1600" spc="-944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urier New"/>
                <a:cs typeface="Courier New"/>
              </a:rPr>
              <a:t>function</a:t>
            </a:r>
            <a:r>
              <a:rPr sz="160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urier New"/>
                <a:cs typeface="Courier New"/>
              </a:rPr>
              <a:t>declarations,</a:t>
            </a:r>
            <a:r>
              <a:rPr sz="1600" spc="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urier New"/>
                <a:cs typeface="Courier New"/>
              </a:rPr>
              <a:t>a</a:t>
            </a:r>
            <a:r>
              <a:rPr sz="160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urier New"/>
                <a:cs typeface="Courier New"/>
              </a:rPr>
              <a:t>class </a:t>
            </a:r>
            <a:r>
              <a:rPr sz="160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urier New"/>
                <a:cs typeface="Courier New"/>
              </a:rPr>
              <a:t>can be defined in</a:t>
            </a:r>
            <a:r>
              <a:rPr sz="160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urier New"/>
                <a:cs typeface="Courier New"/>
              </a:rPr>
              <a:t>two ways: a </a:t>
            </a:r>
            <a:r>
              <a:rPr sz="160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urier New"/>
                <a:cs typeface="Courier New"/>
              </a:rPr>
              <a:t>class expression or a</a:t>
            </a:r>
            <a:r>
              <a:rPr sz="160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urier New"/>
                <a:cs typeface="Courier New"/>
              </a:rPr>
              <a:t>class </a:t>
            </a:r>
            <a:r>
              <a:rPr sz="160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urier New"/>
                <a:cs typeface="Courier New"/>
              </a:rPr>
              <a:t>declaration.</a:t>
            </a:r>
            <a:endParaRPr sz="1600">
              <a:latin typeface="Courier New"/>
              <a:cs typeface="Courier New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55197A-BBF1-FB09-6C06-47046A924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65137"/>
            <a:ext cx="762000" cy="3750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4D0B0C-CBDC-82F8-8F61-471F0FBAF0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8119" y="65137"/>
            <a:ext cx="762000" cy="3631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1699" y="255050"/>
            <a:ext cx="8832850" cy="4644390"/>
          </a:xfrm>
          <a:custGeom>
            <a:avLst/>
            <a:gdLst/>
            <a:ahLst/>
            <a:cxnLst/>
            <a:rect l="l" t="t" r="r" b="b"/>
            <a:pathLst>
              <a:path w="8832850" h="4644390">
                <a:moveTo>
                  <a:pt x="8832299" y="4643999"/>
                </a:moveTo>
                <a:lnTo>
                  <a:pt x="0" y="4643999"/>
                </a:lnTo>
                <a:lnTo>
                  <a:pt x="0" y="0"/>
                </a:lnTo>
                <a:lnTo>
                  <a:pt x="8832299" y="0"/>
                </a:lnTo>
                <a:lnTo>
                  <a:pt x="8832299" y="4643999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306739"/>
            <a:ext cx="126238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1230" dirty="0"/>
              <a:t>M</a:t>
            </a:r>
            <a:r>
              <a:rPr sz="4200" cap="small" spc="-844" dirty="0"/>
              <a:t>o</a:t>
            </a:r>
            <a:r>
              <a:rPr sz="4200" spc="-980" dirty="0"/>
              <a:t>du</a:t>
            </a:r>
            <a:r>
              <a:rPr sz="4200" cap="small" spc="-730" dirty="0"/>
              <a:t>l</a:t>
            </a:r>
            <a:r>
              <a:rPr sz="4200" spc="-1000" dirty="0"/>
              <a:t>es</a:t>
            </a:r>
            <a:endParaRPr sz="42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9350" y="1021550"/>
            <a:ext cx="6340599" cy="37250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AD6EB8-2443-3674-FD48-6BB064E90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65137"/>
            <a:ext cx="762000" cy="3750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2FB882-7D6C-3A1C-8F00-7DF68748B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8119" y="65137"/>
            <a:ext cx="762000" cy="3631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7425" y="378575"/>
            <a:ext cx="464820" cy="640080"/>
          </a:xfrm>
          <a:prstGeom prst="rect">
            <a:avLst/>
          </a:prstGeom>
          <a:solidFill>
            <a:srgbClr val="9FC5E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70"/>
              </a:lnSpc>
            </a:pPr>
            <a:r>
              <a:rPr sz="4200" spc="-1040" dirty="0"/>
              <a:t>Se</a:t>
            </a:r>
            <a:r>
              <a:rPr sz="4200" cap="small" spc="-975" dirty="0"/>
              <a:t>t</a:t>
            </a:r>
            <a:endParaRPr sz="4200"/>
          </a:p>
        </p:txBody>
      </p:sp>
      <p:sp>
        <p:nvSpPr>
          <p:cNvPr id="3" name="object 3"/>
          <p:cNvSpPr txBox="1"/>
          <p:nvPr/>
        </p:nvSpPr>
        <p:spPr>
          <a:xfrm>
            <a:off x="384725" y="1297986"/>
            <a:ext cx="7828280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100"/>
              </a:spcBef>
            </a:pPr>
            <a:r>
              <a:rPr sz="1600" spc="-5" dirty="0">
                <a:solidFill>
                  <a:srgbClr val="212121"/>
                </a:solidFill>
                <a:latin typeface="Courier New"/>
                <a:cs typeface="Courier New"/>
              </a:rPr>
              <a:t>The</a:t>
            </a:r>
            <a:r>
              <a:rPr sz="1600" spc="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urier New"/>
                <a:cs typeface="Courier New"/>
              </a:rPr>
              <a:t>Set</a:t>
            </a:r>
            <a:r>
              <a:rPr sz="1600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urier New"/>
                <a:cs typeface="Courier New"/>
              </a:rPr>
              <a:t>object</a:t>
            </a:r>
            <a:r>
              <a:rPr sz="1600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urier New"/>
                <a:cs typeface="Courier New"/>
              </a:rPr>
              <a:t>lets</a:t>
            </a:r>
            <a:r>
              <a:rPr sz="1600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urier New"/>
                <a:cs typeface="Courier New"/>
              </a:rPr>
              <a:t>you</a:t>
            </a:r>
            <a:r>
              <a:rPr sz="1600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urier New"/>
                <a:cs typeface="Courier New"/>
              </a:rPr>
              <a:t>store</a:t>
            </a:r>
            <a:r>
              <a:rPr sz="1600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urier New"/>
                <a:cs typeface="Courier New"/>
              </a:rPr>
              <a:t>unique</a:t>
            </a:r>
            <a:r>
              <a:rPr sz="1600" spc="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urier New"/>
                <a:cs typeface="Courier New"/>
              </a:rPr>
              <a:t>values</a:t>
            </a:r>
            <a:r>
              <a:rPr sz="1600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urier New"/>
                <a:cs typeface="Courier New"/>
              </a:rPr>
              <a:t>of</a:t>
            </a:r>
            <a:r>
              <a:rPr sz="1600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urier New"/>
                <a:cs typeface="Courier New"/>
              </a:rPr>
              <a:t>any</a:t>
            </a:r>
            <a:r>
              <a:rPr sz="1600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urier New"/>
                <a:cs typeface="Courier New"/>
              </a:rPr>
              <a:t>type,</a:t>
            </a:r>
            <a:r>
              <a:rPr sz="1600" spc="1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urier New"/>
                <a:cs typeface="Courier New"/>
              </a:rPr>
              <a:t>whether </a:t>
            </a:r>
            <a:r>
              <a:rPr sz="1600" spc="-944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urier New"/>
                <a:cs typeface="Courier New"/>
              </a:rPr>
              <a:t>primitives values or</a:t>
            </a:r>
            <a:r>
              <a:rPr sz="160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Courier New"/>
                <a:cs typeface="Courier New"/>
              </a:rPr>
              <a:t>object references.</a:t>
            </a:r>
            <a:endParaRPr sz="160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7386" y="2145886"/>
            <a:ext cx="6065899" cy="28209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EA1D01-E500-F136-66A1-950A9AC44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65137"/>
            <a:ext cx="762000" cy="3750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A9FD2C-53C1-B4C9-7128-0C0911996B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8119" y="65137"/>
            <a:ext cx="762000" cy="3631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7425" y="378575"/>
            <a:ext cx="563880" cy="640080"/>
          </a:xfrm>
          <a:prstGeom prst="rect">
            <a:avLst/>
          </a:prstGeom>
          <a:solidFill>
            <a:srgbClr val="9FC5E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70"/>
              </a:lnSpc>
            </a:pPr>
            <a:r>
              <a:rPr sz="4200" spc="-1230" dirty="0"/>
              <a:t>M</a:t>
            </a:r>
            <a:r>
              <a:rPr sz="4200" cap="small" spc="-830" dirty="0"/>
              <a:t>ap</a:t>
            </a:r>
            <a:endParaRPr sz="4200"/>
          </a:p>
        </p:txBody>
      </p:sp>
      <p:sp>
        <p:nvSpPr>
          <p:cNvPr id="3" name="object 3"/>
          <p:cNvSpPr txBox="1"/>
          <p:nvPr/>
        </p:nvSpPr>
        <p:spPr>
          <a:xfrm>
            <a:off x="384725" y="1297986"/>
            <a:ext cx="8072120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100"/>
              </a:spcBef>
            </a:pPr>
            <a:r>
              <a:rPr sz="1600" spc="-5" dirty="0">
                <a:solidFill>
                  <a:srgbClr val="202124"/>
                </a:solidFill>
                <a:latin typeface="Courier New"/>
                <a:cs typeface="Courier New"/>
              </a:rPr>
              <a:t>The</a:t>
            </a:r>
            <a:r>
              <a:rPr sz="1600" spc="5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02124"/>
                </a:solidFill>
                <a:latin typeface="Courier New"/>
                <a:cs typeface="Courier New"/>
              </a:rPr>
              <a:t>Map</a:t>
            </a:r>
            <a:r>
              <a:rPr sz="1600" spc="10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02124"/>
                </a:solidFill>
                <a:latin typeface="Courier New"/>
                <a:cs typeface="Courier New"/>
              </a:rPr>
              <a:t>object</a:t>
            </a:r>
            <a:r>
              <a:rPr sz="1600" spc="10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02124"/>
                </a:solidFill>
                <a:latin typeface="Courier New"/>
                <a:cs typeface="Courier New"/>
              </a:rPr>
              <a:t>holds</a:t>
            </a:r>
            <a:r>
              <a:rPr sz="1600" spc="5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02124"/>
                </a:solidFill>
                <a:latin typeface="Courier New"/>
                <a:cs typeface="Courier New"/>
              </a:rPr>
              <a:t>key-value</a:t>
            </a:r>
            <a:r>
              <a:rPr sz="1600" spc="10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02124"/>
                </a:solidFill>
                <a:latin typeface="Courier New"/>
                <a:cs typeface="Courier New"/>
              </a:rPr>
              <a:t>pairs</a:t>
            </a:r>
            <a:r>
              <a:rPr sz="1600" spc="10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02124"/>
                </a:solidFill>
                <a:latin typeface="Courier New"/>
                <a:cs typeface="Courier New"/>
              </a:rPr>
              <a:t>and</a:t>
            </a:r>
            <a:r>
              <a:rPr sz="1600" spc="5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02124"/>
                </a:solidFill>
                <a:latin typeface="Courier New"/>
                <a:cs typeface="Courier New"/>
              </a:rPr>
              <a:t>remembers</a:t>
            </a:r>
            <a:r>
              <a:rPr sz="1600" spc="10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02124"/>
                </a:solidFill>
                <a:latin typeface="Courier New"/>
                <a:cs typeface="Courier New"/>
              </a:rPr>
              <a:t>the</a:t>
            </a:r>
            <a:r>
              <a:rPr sz="1600" spc="10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02124"/>
                </a:solidFill>
                <a:latin typeface="Courier New"/>
                <a:cs typeface="Courier New"/>
              </a:rPr>
              <a:t>original </a:t>
            </a:r>
            <a:r>
              <a:rPr sz="1600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02124"/>
                </a:solidFill>
                <a:latin typeface="Courier New"/>
                <a:cs typeface="Courier New"/>
              </a:rPr>
              <a:t>insertion</a:t>
            </a:r>
            <a:r>
              <a:rPr sz="1600" spc="10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02124"/>
                </a:solidFill>
                <a:latin typeface="Courier New"/>
                <a:cs typeface="Courier New"/>
              </a:rPr>
              <a:t>order</a:t>
            </a:r>
            <a:r>
              <a:rPr sz="1600" spc="10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02124"/>
                </a:solidFill>
                <a:latin typeface="Courier New"/>
                <a:cs typeface="Courier New"/>
              </a:rPr>
              <a:t>of</a:t>
            </a:r>
            <a:r>
              <a:rPr sz="1600" spc="15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02124"/>
                </a:solidFill>
                <a:latin typeface="Courier New"/>
                <a:cs typeface="Courier New"/>
              </a:rPr>
              <a:t>the</a:t>
            </a:r>
            <a:r>
              <a:rPr sz="1600" spc="10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02124"/>
                </a:solidFill>
                <a:latin typeface="Courier New"/>
                <a:cs typeface="Courier New"/>
              </a:rPr>
              <a:t>keys.</a:t>
            </a:r>
            <a:r>
              <a:rPr sz="1600" spc="15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02124"/>
                </a:solidFill>
                <a:latin typeface="Courier New"/>
                <a:cs typeface="Courier New"/>
              </a:rPr>
              <a:t>Any</a:t>
            </a:r>
            <a:r>
              <a:rPr sz="1600" spc="10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02124"/>
                </a:solidFill>
                <a:latin typeface="Courier New"/>
                <a:cs typeface="Courier New"/>
              </a:rPr>
              <a:t>value</a:t>
            </a:r>
            <a:r>
              <a:rPr sz="1600" spc="10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02124"/>
                </a:solidFill>
                <a:latin typeface="Courier New"/>
                <a:cs typeface="Courier New"/>
              </a:rPr>
              <a:t>(both</a:t>
            </a:r>
            <a:r>
              <a:rPr sz="1600" spc="15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02124"/>
                </a:solidFill>
                <a:latin typeface="Courier New"/>
                <a:cs typeface="Courier New"/>
              </a:rPr>
              <a:t>objects</a:t>
            </a:r>
            <a:r>
              <a:rPr sz="1600" spc="10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02124"/>
                </a:solidFill>
                <a:latin typeface="Courier New"/>
                <a:cs typeface="Courier New"/>
              </a:rPr>
              <a:t>and</a:t>
            </a:r>
            <a:r>
              <a:rPr sz="1600" spc="15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02124"/>
                </a:solidFill>
                <a:latin typeface="Courier New"/>
                <a:cs typeface="Courier New"/>
              </a:rPr>
              <a:t>primitive </a:t>
            </a:r>
            <a:r>
              <a:rPr sz="1600" spc="-944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02124"/>
                </a:solidFill>
                <a:latin typeface="Courier New"/>
                <a:cs typeface="Courier New"/>
              </a:rPr>
              <a:t>values )</a:t>
            </a:r>
            <a:r>
              <a:rPr sz="1600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02124"/>
                </a:solidFill>
                <a:latin typeface="Courier New"/>
                <a:cs typeface="Courier New"/>
              </a:rPr>
              <a:t>may be</a:t>
            </a:r>
            <a:r>
              <a:rPr sz="1600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02124"/>
                </a:solidFill>
                <a:latin typeface="Courier New"/>
                <a:cs typeface="Courier New"/>
              </a:rPr>
              <a:t>used as</a:t>
            </a:r>
            <a:r>
              <a:rPr sz="1600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02124"/>
                </a:solidFill>
                <a:latin typeface="Courier New"/>
                <a:cs typeface="Courier New"/>
              </a:rPr>
              <a:t>either a</a:t>
            </a:r>
            <a:r>
              <a:rPr sz="1600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02124"/>
                </a:solidFill>
                <a:latin typeface="Courier New"/>
                <a:cs typeface="Courier New"/>
              </a:rPr>
              <a:t>key or</a:t>
            </a:r>
            <a:r>
              <a:rPr sz="1600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02124"/>
                </a:solidFill>
                <a:latin typeface="Courier New"/>
                <a:cs typeface="Courier New"/>
              </a:rPr>
              <a:t>a value.</a:t>
            </a:r>
            <a:endParaRPr sz="160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0875" y="2343775"/>
            <a:ext cx="4660474" cy="26215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2F0152-0E95-9C3D-C180-1767E2F69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65137"/>
            <a:ext cx="762000" cy="3750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F99FBF-13FB-CDFE-5691-C4805AB812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8119" y="65137"/>
            <a:ext cx="762000" cy="3631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429000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0" y="1714499"/>
                </a:moveTo>
                <a:lnTo>
                  <a:pt x="9143999" y="1714499"/>
                </a:lnTo>
                <a:lnTo>
                  <a:pt x="9143999" y="0"/>
                </a:lnTo>
                <a:lnTo>
                  <a:pt x="0" y="0"/>
                </a:lnTo>
                <a:lnTo>
                  <a:pt x="0" y="1714499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3999" y="3428999"/>
                </a:moveTo>
                <a:lnTo>
                  <a:pt x="0" y="34289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3428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800" dirty="0"/>
              <a:t>T</a:t>
            </a:r>
            <a:r>
              <a:rPr cap="small" spc="-1695" dirty="0"/>
              <a:t>ha</a:t>
            </a:r>
            <a:r>
              <a:rPr spc="-1240" dirty="0"/>
              <a:t>nk</a:t>
            </a:r>
            <a:r>
              <a:rPr spc="-950" dirty="0"/>
              <a:t> </a:t>
            </a:r>
            <a:r>
              <a:rPr spc="-2010" dirty="0"/>
              <a:t>y</a:t>
            </a:r>
            <a:r>
              <a:rPr cap="small" spc="-1620" dirty="0"/>
              <a:t>o</a:t>
            </a:r>
            <a:r>
              <a:rPr spc="-1839" dirty="0"/>
              <a:t>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9B703A-BEAB-4B56-B542-79385F5D4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65137"/>
            <a:ext cx="762000" cy="3750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B4120D-65B7-CCCE-150A-FF156E900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8119" y="65137"/>
            <a:ext cx="762000" cy="3631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181</Words>
  <Application>Microsoft Office PowerPoint</Application>
  <PresentationFormat>On-screen Show (16:9)</PresentationFormat>
  <Paragraphs>28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Courier New</vt:lpstr>
      <vt:lpstr>Lato</vt:lpstr>
      <vt:lpstr>Microsoft Sans Serif</vt:lpstr>
      <vt:lpstr>Trebuchet MS</vt:lpstr>
      <vt:lpstr>Office Theme</vt:lpstr>
      <vt:lpstr>PowerPoint Presentation</vt:lpstr>
      <vt:lpstr>Agenda</vt:lpstr>
      <vt:lpstr>PRomises</vt:lpstr>
      <vt:lpstr>PRomises</vt:lpstr>
      <vt:lpstr>Classes in ES6</vt:lpstr>
      <vt:lpstr>Modules</vt:lpstr>
      <vt:lpstr>Set</vt:lpstr>
      <vt:lpstr>Map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Es.Next Lecture 2</dc:title>
  <dc:creator>heba ali</dc:creator>
  <cp:lastModifiedBy>Ahmad Mohamd Foaad</cp:lastModifiedBy>
  <cp:revision>4</cp:revision>
  <dcterms:created xsi:type="dcterms:W3CDTF">2024-11-09T07:01:35Z</dcterms:created>
  <dcterms:modified xsi:type="dcterms:W3CDTF">2026-07-03T11:55:30Z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